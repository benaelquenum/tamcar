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 flip="none" rotWithShape="1">
            <a:gsLst>
              <a:gs pos="0">
                <a:srgbClr val="1E40AF"/>
              </a:gs>
              <a:gs pos="50000">
                <a:srgbClr val="4D3DCE"/>
              </a:gs>
              <a:gs pos="100000">
                <a:srgbClr val="7C3AED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2743200"/>
            <a:ext cx="7315200" cy="731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TamCar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93C5FD"/>
                </a:solidFill>
                <a:latin typeface="Calibri"/>
              </a:rPr>
              <a:t>Le VTC qui respecte le Béninois.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Devenez actionnaire de la plateforme technologique de VTC dédiée au corridor Cotonou · Porto-Novo. Prix fixes garantis, matching intelligent, chauffeurs équitablement rémunérés.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937760"/>
            <a:ext cx="10972800" cy="11887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~2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HABITANTS CIBLES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E0E0FF"/>
                </a:solidFill>
                <a:latin typeface="Calibri"/>
              </a:rPr>
              <a:t>Cotonou + Porto-Novo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50292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30-50k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577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COURSES / JOUR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852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E0E0FF"/>
                </a:solidFill>
                <a:latin typeface="Calibri"/>
              </a:rPr>
              <a:t>potentiel corridor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50292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10 M 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5577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LEVÉE CIBLE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5852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E0E0FF"/>
                </a:solidFill>
                <a:latin typeface="Calibri"/>
              </a:rPr>
              <a:t>phase 1 pilote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E0E0FF"/>
                </a:solidFill>
                <a:latin typeface="Calibri"/>
              </a:rPr>
              <a:t>TamCar SARL · en cours de constitution · Porto-Novo, Bénin · contact@tamcar.app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2563EB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77724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3A8A"/>
                </a:solidFill>
                <a:latin typeface="Calibri"/>
              </a:rPr>
              <a:t>Le marché du VTC au Bénin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45920"/>
            <a:ext cx="11094415" cy="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920240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Le VTC est en pleine explosion en Afrique de l'Ouest. Cotonou–Porto-Novo cumule ~2 millions d'habitants urbains connectés, avec un besoin quotidien de mobilité qu'aucun acteur ne sert avec les bons prix ni la bonne fiabilité.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803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3A8A"/>
                </a:solidFill>
                <a:latin typeface="Calibri"/>
              </a:rPr>
              <a:t>Les concurrents en place — leurs faiblesses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4612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3657600" cy="13716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52044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3A8A"/>
                </a:solidFill>
                <a:latin typeface="Calibri"/>
              </a:rPr>
              <a:t>Yango (Russe)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4048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Filiale Yandex, prix cassé, image agressive. Zéro ancrage local, image négative dans la population.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324612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59" y="3246120"/>
            <a:ext cx="3657600" cy="137160"/>
          </a:xfrm>
          <a:prstGeom prst="roundRect">
            <a:avLst>
              <a:gd name="adj" fmla="val 8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352044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3A8A"/>
                </a:solidFill>
                <a:latin typeface="Calibri"/>
              </a:rPr>
              <a:t>Gozem (Togolais)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84048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Historique moto-taxi, vert/jaune, notoire mais vieillissant. Techno plafonnée, pas d'innovation depuis 2 ans.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3246120"/>
            <a:ext cx="3657600" cy="14630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0" y="3246120"/>
            <a:ext cx="3657600" cy="13716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352044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3A8A"/>
                </a:solidFill>
                <a:latin typeface="Calibri"/>
              </a:rPr>
              <a:t>Nonvi (Local)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84048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Tentative locale faible tech, peu de chauffeurs actifs, matching aléatoire, pas de confiance utilisateur.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37760"/>
            <a:ext cx="11155680" cy="7315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0749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1">
                <a:solidFill>
                  <a:srgbClr val="1E3A8A"/>
                </a:solidFill>
                <a:latin typeface="Calibri"/>
              </a:rPr>
              <a:t>« Le VTC qui respecte le Béninois — client comme chauffeur. 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064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  <a:latin typeface="Calibri"/>
              </a:rPr>
              <a:t>Le trou de marché — la promesse TamCar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6172200"/>
            <a:ext cx="2743200" cy="59436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236208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3A8A"/>
                </a:solidFill>
                <a:latin typeface="Calibri"/>
              </a:rPr>
              <a:t>Fiabilité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922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Prix fixe garanti, jamais de surge.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6172200"/>
            <a:ext cx="2743200" cy="59436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6236208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3A8A"/>
                </a:solidFill>
                <a:latin typeface="Calibri"/>
              </a:rPr>
              <a:t>Confiance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64922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Auto-preuve télémétrie, arbitrage équitable.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59" y="6172200"/>
            <a:ext cx="2743200" cy="59436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6236208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3A8A"/>
                </a:solidFill>
                <a:latin typeface="Calibri"/>
              </a:rPr>
              <a:t>Ancrage local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64922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Kloboto, Zémidjan, MoMo, tarifs adaptés.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19" y="6172200"/>
            <a:ext cx="2743200" cy="59436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6236208"/>
            <a:ext cx="2468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E3A8A"/>
                </a:solidFill>
                <a:latin typeface="Calibri"/>
              </a:rPr>
              <a:t>Équité chauffeurs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64922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40 % chauffeur, cession 24 mois.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2563EB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77724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3A8A"/>
                </a:solidFill>
                <a:latin typeface="Calibri"/>
              </a:rPr>
              <a:t>La solution TamCar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45920"/>
            <a:ext cx="11094415" cy="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920240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Plateforme technologique complète : PWA installable client + chauffeur, backend Supabase, paiement FedaPay. Développée à 100 %, déjà déployée en production, prête à opérer.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3A8A"/>
                </a:solidFill>
                <a:latin typeface="Calibri"/>
              </a:rPr>
              <a:t>4 catégories de véhicules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040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0180" y="3337560"/>
            <a:ext cx="914400" cy="9144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34340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Moto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66344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Zémidjan formalisé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864608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2 places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07492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E3A8A"/>
                </a:solidFill>
                <a:latin typeface="Calibri"/>
              </a:rPr>
              <a:t>400 F / 5 km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20040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74820" y="3337560"/>
            <a:ext cx="914400" cy="9144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434340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Tricycle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66344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Kloboto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4864608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3 places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507492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E3A8A"/>
                </a:solidFill>
                <a:latin typeface="Calibri"/>
              </a:rPr>
              <a:t>700 F / 5 km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20040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09460" y="333756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34340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Essentiel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66344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Voiture éco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864608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4 places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07492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E3A8A"/>
                </a:solidFill>
                <a:latin typeface="Calibri"/>
              </a:rPr>
              <a:t>1 200 F / 5 km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320040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4100" y="3337560"/>
            <a:ext cx="914400" cy="9144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434340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  <a:latin typeface="Calibri"/>
              </a:rPr>
              <a:t>Confort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4663440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Voiture premium clim.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4864608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4 places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507492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E3A8A"/>
                </a:solidFill>
                <a:latin typeface="Calibri"/>
              </a:rPr>
              <a:t>1 500 F / 5 km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394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3A8A"/>
                </a:solidFill>
                <a:latin typeface="Calibri"/>
              </a:rPr>
              <a:t>Fonctionnalités déjà livrées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76072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742432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Réservation flexible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96188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Instantanée ou programmée à 30 jours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576072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742432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Tracking 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596188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ETA précis + carte temps réel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576072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742432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Chat + WhatsApp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96188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Vocal et vidéo intégré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576072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5742432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Wallet + FedaPay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596188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MTN MoMo, Moov Money, carte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21792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6199632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SOS + arbitrage litiges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41908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Télémétrie preuve automatique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621792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66160" y="6199632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Multi-langue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641908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Français + Anglais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621792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6199632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Push notifications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641908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Même application fermée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0" y="6217920"/>
            <a:ext cx="137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6199632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Parrainage + promo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641908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500 F par filleul actif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2563EB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77724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3A8A"/>
                </a:solidFill>
                <a:latin typeface="Calibri"/>
              </a:rPr>
              <a:t>Modèle économique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45920"/>
            <a:ext cx="11094415" cy="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9202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  <a:latin typeface="Calibri"/>
              </a:rPr>
              <a:t>Formule Cession — chauffeur devient propriétaire en 24 mois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4462272" cy="640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04872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40 %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79191"/>
            <a:ext cx="44622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Chauffeur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10912" y="2331720"/>
            <a:ext cx="1115568" cy="640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10912" y="240487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0912" y="2679191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Rachat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79" y="2331720"/>
            <a:ext cx="3346704" cy="6400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79" y="2404872"/>
            <a:ext cx="33467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79" y="2679191"/>
            <a:ext cx="33467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Concess.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73184" y="2331720"/>
            <a:ext cx="2231136" cy="6400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73184" y="2404872"/>
            <a:ext cx="22311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20 %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3184" y="2679191"/>
            <a:ext cx="22311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TamCar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0632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Le fonds rachat (10 %) est accumulé course après course pour le chauffeur ; la voiture devient sa propriété à M+24.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5204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  <a:latin typeface="Calibri"/>
              </a:rPr>
              <a:t>Formule Propriétaire — chauffeur déjà équipé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31920"/>
            <a:ext cx="8924544" cy="6400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005072"/>
            <a:ext cx="8924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80 %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79392"/>
            <a:ext cx="89245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Chauffeur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73184" y="3931920"/>
            <a:ext cx="2231136" cy="6400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73184" y="4005072"/>
            <a:ext cx="22311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20 %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3184" y="4279392"/>
            <a:ext cx="22311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TamCar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937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3A8A"/>
                </a:solidFill>
                <a:latin typeface="Calibri"/>
              </a:rPr>
              <a:t>Projection revenus — 1 véhicule Essentiel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257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Hypothèse : 10 courses/jour × 300 jours actifs × prix moyen 2 500 F = 7 500 000 F volume annuel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623560"/>
            <a:ext cx="11155680" cy="292608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66928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Répartition annuelle (cession)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566928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FCFA / 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566928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916168"/>
            <a:ext cx="111556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96188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Chauffeur cash + fonds rachat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596188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0F172A"/>
                </a:solidFill>
                <a:latin typeface="Calibri"/>
              </a:rPr>
              <a:t>3 750 000 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5961888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0F172A"/>
                </a:solidFill>
                <a:latin typeface="Calibri"/>
              </a:rPr>
              <a:t>50 %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6208776"/>
            <a:ext cx="11155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6254496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Concessionnaire (dividende exploit.)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625449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0F172A"/>
                </a:solidFill>
                <a:latin typeface="Calibri"/>
              </a:rPr>
              <a:t>2 250 000 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254496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0F172A"/>
                </a:solidFill>
                <a:latin typeface="Calibri"/>
              </a:rPr>
              <a:t>30 %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6501384"/>
            <a:ext cx="1115568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6547104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Plateforme TamCar (marge nette)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654710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0F172A"/>
                </a:solidFill>
                <a:latin typeface="Calibri"/>
              </a:rPr>
              <a:t>1 500 000 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547104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0F172A"/>
                </a:solidFill>
                <a:latin typeface="Calibri"/>
              </a:rPr>
              <a:t>20 %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6793992"/>
            <a:ext cx="11155680" cy="292608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6839712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3A8A"/>
                </a:solidFill>
                <a:latin typeface="Calibri"/>
              </a:rPr>
              <a:t>TOTAL volume annuel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683971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E3A8A"/>
                </a:solidFill>
                <a:latin typeface="Calibri"/>
              </a:rPr>
              <a:t>7 500 000 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83971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1E3A8A"/>
                </a:solidFill>
                <a:latin typeface="Calibri"/>
              </a:rPr>
              <a:t>100 %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2563EB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77724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3A8A"/>
                </a:solidFill>
                <a:latin typeface="Calibri"/>
              </a:rPr>
              <a:t>L'opportunité d'investissement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45920"/>
            <a:ext cx="11094415" cy="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92024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TamCar SARL en cours de constitution (SARL OHADA). Le fondateur apporte l'application (20 M F, validation commissaire aux apports). Les concessionnaires et investisseurs apportent la trésorerie.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88920"/>
            <a:ext cx="3657600" cy="12344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2607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2563EB"/>
                </a:solidFill>
                <a:latin typeface="Calibri"/>
              </a:rPr>
              <a:t>20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Calibri"/>
              </a:rPr>
              <a:t>APPORT IP FONDATEUR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Application déjà déployée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2788920"/>
            <a:ext cx="3657600" cy="12344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92607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2563EB"/>
                </a:solidFill>
                <a:latin typeface="Calibri"/>
              </a:rPr>
              <a:t>10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4747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Calibri"/>
              </a:rPr>
              <a:t>LEVÉE NUMÉRAIRE CIBLE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37033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Runway 12 mois pilote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2788920"/>
            <a:ext cx="3657600" cy="12344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2926079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2563EB"/>
                </a:solidFill>
                <a:latin typeface="Calibri"/>
              </a:rPr>
              <a:t>10 000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34747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F172A"/>
                </a:solidFill>
                <a:latin typeface="Calibri"/>
              </a:rPr>
              <a:t>VALEUR D'UNE PART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37033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Fixée aux statuts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60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3A8A"/>
                </a:solidFill>
                <a:latin typeface="Calibri"/>
              </a:rPr>
              <a:t>Structure cible du capital à la constitution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80560"/>
            <a:ext cx="11155680" cy="2743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5262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Contributeur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4526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526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Nature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45262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% capital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754880"/>
            <a:ext cx="1115568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8006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Fondateur — Terence B. R. Quenum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48006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20 M 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8006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Nature (IP)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48006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66,7 %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029200"/>
            <a:ext cx="111556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074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Concessionnaires-actionnaires (5-10)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50749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4-6 M 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50749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Numéraire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50749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13-20 %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303520"/>
            <a:ext cx="1115568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3492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Investisseurs passifs (2-4)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5349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4-6 M 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53492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Numéraire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53492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0F172A"/>
                </a:solidFill>
                <a:latin typeface="Calibri"/>
              </a:rPr>
              <a:t>13-20 %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577840"/>
            <a:ext cx="1115568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62355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E3A8A"/>
                </a:solidFill>
                <a:latin typeface="Calibri"/>
              </a:rPr>
              <a:t>CAPITAL TOTAL CIBLE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0" y="562355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E3A8A"/>
                </a:solidFill>
                <a:latin typeface="Calibri"/>
              </a:rPr>
              <a:t>30 M 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562355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1E3A8A"/>
                </a:solidFill>
                <a:latin typeface="Calibr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5623559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3A8A"/>
                </a:solidFill>
                <a:latin typeface="Calibri"/>
              </a:rPr>
              <a:t>100 %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3A8A"/>
                </a:solidFill>
                <a:latin typeface="Calibri"/>
              </a:rPr>
              <a:t>Roadmap — de la phase pilote à la régionalisation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6309360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6309360"/>
            <a:ext cx="13716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635508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Phase 1 · M0-6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6574536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  <a:latin typeface="Calibri"/>
              </a:rPr>
              <a:t>Pilote Cotonou–Porto-Novo. 5-10 concess., 10-20 véhicules. 1500-3000 courses/mois.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97679" y="6309360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97679" y="6309360"/>
            <a:ext cx="137160" cy="50292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26279" y="635508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Phase 2 · M6-18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26279" y="6574536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  <a:latin typeface="Calibri"/>
              </a:rPr>
              <a:t>Extension Parakou, Abomey. Levée pre-seed 20-40 M F. 20-50k courses/mois.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46719" y="6309360"/>
            <a:ext cx="3657600" cy="502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19" y="6309360"/>
            <a:ext cx="137160" cy="5029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75319" y="6355080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Phase 3 · M18+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19" y="6574536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  <a:latin typeface="Calibri"/>
              </a:rPr>
              <a:t>Régionalisation Togo (Lomé), Ghana (Accra). Levée seed 100-300 M 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2563EB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77724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3A8A"/>
                </a:solidFill>
                <a:latin typeface="Calibri"/>
              </a:rPr>
              <a:t>2 façons de devenir actionnaire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45920"/>
            <a:ext cx="11094415" cy="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965960"/>
            <a:ext cx="5486400" cy="4709160"/>
          </a:xfrm>
          <a:prstGeom prst="roundRect">
            <a:avLst>
              <a:gd name="adj" fmla="val 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031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CONCESSIONNAIRE-ACTIONNAIRE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1460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7D2FE"/>
                </a:solidFill>
                <a:latin typeface="Calibri"/>
              </a:rPr>
              <a:t>Tu possèdes un ou plusieurs véhicules et souhaites un revenu régulier.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59" y="2926080"/>
            <a:ext cx="4937761" cy="0"/>
          </a:xfrm>
          <a:prstGeom prst="line">
            <a:avLst/>
          </a:prstGeom>
          <a:ln w="6350">
            <a:solidFill>
              <a:srgbClr val="6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59" y="30175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AB308"/>
                </a:solidFill>
                <a:latin typeface="Calibri"/>
              </a:rPr>
              <a:t>CONDITIONS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291840"/>
            <a:ext cx="274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AB308"/>
                </a:solidFill>
                <a:latin typeface="Calibri"/>
              </a:rPr>
              <a:t>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91840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1 véhicule minimum (Moto, Kloboto, Essentiel, Confort)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547872"/>
            <a:ext cx="274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AB308"/>
                </a:solidFill>
                <a:latin typeface="Calibri"/>
              </a:rP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47872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Souscription 500 000 F (50 parts sociales)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803904"/>
            <a:ext cx="274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AB308"/>
                </a:solidFill>
                <a:latin typeface="Calibri"/>
              </a:rPr>
              <a:t>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803904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ADR 100 000 F par véhicule — remboursable sur revenus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59" y="4206240"/>
            <a:ext cx="4937761" cy="0"/>
          </a:xfrm>
          <a:prstGeom prst="line">
            <a:avLst/>
          </a:prstGeom>
          <a:ln w="6350">
            <a:solidFill>
              <a:srgbClr val="609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59" y="4297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AB308"/>
                </a:solidFill>
                <a:latin typeface="Calibri"/>
              </a:rPr>
              <a:t>TES 3 SOURCES DE REVENUS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57200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AB308"/>
                </a:solidFill>
                <a:latin typeface="Calibri"/>
              </a:rPr>
              <a:t>30 %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61772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de chaque course de ton véhicule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489204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AB308"/>
                </a:solidFill>
                <a:latin typeface="Calibri"/>
              </a:rPr>
              <a:t>100 k 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937759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ADR remboursée sur 6-12 mois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521208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AB308"/>
                </a:solidFill>
                <a:latin typeface="Calibri"/>
              </a:rPr>
              <a:t>Dividende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525780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actionnarial annuel dès année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59" y="5577840"/>
            <a:ext cx="4937760" cy="960120"/>
          </a:xfrm>
          <a:prstGeom prst="roundRect">
            <a:avLst>
              <a:gd name="adj" fmla="val 8000"/>
            </a:avLst>
          </a:prstGeom>
          <a:solidFill>
            <a:srgbClr val="0F1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6692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AB308"/>
                </a:solidFill>
                <a:latin typeface="Calibri"/>
              </a:rPr>
              <a:t>SIMULATION 5 ANS · 1 VÉHICULE ESSENTIEL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9436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EAB308"/>
                </a:solidFill>
                <a:latin typeface="Calibri"/>
              </a:rPr>
              <a:t>11-13 M 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6355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revenus estimés hors valorisation parts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1965960"/>
            <a:ext cx="5486400" cy="4709160"/>
          </a:xfrm>
          <a:prstGeom prst="roundRect">
            <a:avLst>
              <a:gd name="adj" fmla="val 5000"/>
            </a:avLst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1031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INVESTISSEUR PASSIF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251460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E9D5FF"/>
                </a:solidFill>
                <a:latin typeface="Calibri"/>
              </a:rPr>
              <a:t>Tu crois au projet et veux prendre part au capital sans obligation opérationnelle.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46520" y="2926080"/>
            <a:ext cx="4937760" cy="0"/>
          </a:xfrm>
          <a:prstGeom prst="line">
            <a:avLst/>
          </a:prstGeom>
          <a:ln w="63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46520" y="30175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AB308"/>
                </a:solidFill>
                <a:latin typeface="Calibri"/>
              </a:rPr>
              <a:t>CONDITIONS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291840"/>
            <a:ext cx="274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AB308"/>
                </a:solidFill>
                <a:latin typeface="Calibri"/>
              </a:rPr>
              <a:t>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291840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Souscription 1 000 000 F (100 parts sociales)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547872"/>
            <a:ext cx="274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AB308"/>
                </a:solidFill>
                <a:latin typeface="Calibri"/>
              </a:rPr>
              <a:t>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3547872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Aucun véhicule requis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3803904"/>
            <a:ext cx="274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AB308"/>
                </a:solidFill>
                <a:latin typeface="Calibri"/>
              </a:rPr>
              <a:t>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803904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Plafond individuel : 20 % du capital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446520" y="4206240"/>
            <a:ext cx="4937760" cy="0"/>
          </a:xfrm>
          <a:prstGeom prst="line">
            <a:avLst/>
          </a:prstGeom>
          <a:ln w="63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446520" y="42976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AB308"/>
                </a:solidFill>
                <a:latin typeface="Calibri"/>
              </a:rPr>
              <a:t>TES 2 SOURCES DE RETOUR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57200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AB308"/>
                </a:solidFill>
                <a:latin typeface="Calibri"/>
              </a:rPr>
              <a:t>Dividendes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4617720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annuels distribuables dès année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489204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AB308"/>
                </a:solidFill>
                <a:latin typeface="Calibri"/>
              </a:rPr>
              <a:t>Valorisation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1000" y="4937759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des parts × 3-10 en 3-5 ans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46520" y="5349240"/>
            <a:ext cx="4937760" cy="1188720"/>
          </a:xfrm>
          <a:prstGeom prst="roundRect">
            <a:avLst>
              <a:gd name="adj" fmla="val 8000"/>
            </a:avLst>
          </a:prstGeom>
          <a:solidFill>
            <a:srgbClr val="3B0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9400" y="54406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AB308"/>
                </a:solidFill>
                <a:latin typeface="Calibri"/>
              </a:rPr>
              <a:t>SIMULATION TICKET 2 M F · 5 ANS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400" y="57150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AB308"/>
                </a:solidFill>
                <a:latin typeface="Calibri"/>
              </a:rPr>
              <a:t>+500 %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62636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Calibri"/>
              </a:rPr>
              <a:t>retour cumulé projeté (hypothèses conservatrices)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2563EB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77724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1E3A8A"/>
                </a:solidFill>
                <a:latin typeface="Calibri"/>
              </a:rPr>
              <a:t>Comment souscrire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45920"/>
            <a:ext cx="11094415" cy="0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874519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Un processus clair, sécurisé, en 3 phases. Tes fonds sont protégés à chaque étape.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3657600" cy="23317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365760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60604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E3A8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60604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Prise de contact + LOI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19" y="2834640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C7D2FE"/>
                </a:solidFill>
                <a:latin typeface="Calibri"/>
              </a:rPr>
              <a:t>M1-M2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08960"/>
            <a:ext cx="329184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RDV individuel avec Terence. Signature d'un Protocole d'Accord qui formalise ton intention. Non contraignant — te permet de te retirer avant la phase 3.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514600"/>
            <a:ext cx="3657600" cy="23317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514600"/>
            <a:ext cx="365760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0" y="260604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6517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E3A8A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60604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Consignation fonds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834640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C7D2FE"/>
                </a:solidFill>
                <a:latin typeface="Calibri"/>
              </a:rPr>
              <a:t>M2-M3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108960"/>
            <a:ext cx="329184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Ouverture d'un compte séquestre bancaire. Chaque associé y verse son apport. Fonds bloqués jusqu'à constitution. Restitution intégrale en cas d'échec du tour.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2514600"/>
            <a:ext cx="3657600" cy="23317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2514600"/>
            <a:ext cx="365760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66760" y="260604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265176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E3A8A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260604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Constitution SARL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834640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C7D2FE"/>
                </a:solidFill>
                <a:latin typeface="Calibri"/>
              </a:rPr>
              <a:t>M3-M4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108960"/>
            <a:ext cx="329184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Commissaire aux apports, AG constitutive, signature statuts + pacte devant notaire, immatriculation RCCM. Les fonds séquestre alimentent la trésorerie SARL.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029200"/>
            <a:ext cx="11155680" cy="146304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120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7D2FE"/>
                </a:solidFill>
                <a:latin typeface="Calibri"/>
              </a:rPr>
              <a:t>PRENEZ RENDEZ-VOUS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3949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Terence Beni Raphaël QUENUM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806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C7D2FE"/>
                </a:solidFill>
                <a:latin typeface="Calibri"/>
              </a:rPr>
              <a:t>Fondateur — futur Gérant de TamCar SARL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1264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7D2FE"/>
                </a:solidFill>
                <a:latin typeface="Calibri"/>
              </a:rPr>
              <a:t>EMAIL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30936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terencebeniraphael@gmail.com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61264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7D2FE"/>
                </a:solidFill>
                <a:latin typeface="Calibri"/>
              </a:rPr>
              <a:t>WHATSAPP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630936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+229 [à compléter]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61264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7D2FE"/>
                </a:solidFill>
                <a:latin typeface="Calibri"/>
              </a:rPr>
              <a:t>RDV PHYSIQUE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630936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Porto-Novo · Cotonou · à votre convenance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583680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00" b="0" i="1">
                <a:solidFill>
                  <a:srgbClr val="64748B"/>
                </a:solidFill>
                <a:latin typeface="Calibri"/>
              </a:rPr>
              <a:t>Document confidentiel. Ne constitue ni une offre publique de souscription, ni un prospectus. TamCar SARL — en cours de constitution — Porto-Novo, Bénin.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