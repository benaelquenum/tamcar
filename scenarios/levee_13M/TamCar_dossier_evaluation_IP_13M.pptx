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731520"/>
            <a:ext cx="5029200" cy="365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77240"/>
            <a:ext cx="4846320" cy="274320"/>
          </a:xfrm>
          <a:prstGeom prst="rect">
            <a:avLst/>
          </a:prstGeom>
          <a:noFill/>
        </p:spPr>
        <p:txBody>
          <a:bodyPr wrap="square" lIns="36576" rIns="36576" tIns="18288" bIns="18288">
            <a:spAutoFit/>
          </a:bodyPr>
          <a:lstStyle/>
          <a:p>
            <a:pPr>
              <a:spcAft>
                <a:spcPts val="300"/>
              </a:spcAft>
            </a:pPr>
            <a:r>
              <a:rPr sz="1000" b="1">
                <a:solidFill>
                  <a:srgbClr val="FFFFFF"/>
                </a:solidFill>
                <a:latin typeface="Calibri"/>
              </a:rPr>
              <a:t>DOSSIER CONFIDENTIEL · APPORT EN NATURE</a:t>
            </a:r>
          </a:p>
        </p:txBody>
      </p:sp>
      <p:sp>
        <p:nvSpPr>
          <p:cNvPr id="5" name="TextBox 4"/>
          <p:cNvSpPr txBox="1"/>
          <p:nvPr/>
        </p:nvSpPr>
        <p:spPr>
          <a:xfrm>
            <a:off x="640080" y="1371600"/>
            <a:ext cx="10515600" cy="914400"/>
          </a:xfrm>
          <a:prstGeom prst="rect">
            <a:avLst/>
          </a:prstGeom>
          <a:noFill/>
        </p:spPr>
        <p:txBody>
          <a:bodyPr wrap="square" lIns="36576" rIns="36576" tIns="18288" bIns="18288">
            <a:spAutoFit/>
          </a:bodyPr>
          <a:lstStyle/>
          <a:p>
            <a:pPr>
              <a:spcAft>
                <a:spcPts val="300"/>
              </a:spcAft>
            </a:pPr>
            <a:r>
              <a:rPr sz="4800" b="1">
                <a:solidFill>
                  <a:srgbClr val="FFFFFF"/>
                </a:solidFill>
                <a:latin typeface="Calibri"/>
              </a:rPr>
              <a:t>Plateforme TamCar</a:t>
            </a:r>
          </a:p>
        </p:txBody>
      </p:sp>
      <p:sp>
        <p:nvSpPr>
          <p:cNvPr id="6" name="TextBox 5"/>
          <p:cNvSpPr txBox="1"/>
          <p:nvPr/>
        </p:nvSpPr>
        <p:spPr>
          <a:xfrm>
            <a:off x="640080" y="2377440"/>
            <a:ext cx="10515600" cy="822960"/>
          </a:xfrm>
          <a:prstGeom prst="rect">
            <a:avLst/>
          </a:prstGeom>
          <a:noFill/>
        </p:spPr>
        <p:txBody>
          <a:bodyPr wrap="square" lIns="36576" rIns="36576" tIns="18288" bIns="18288">
            <a:spAutoFit/>
          </a:bodyPr>
          <a:lstStyle/>
          <a:p>
            <a:pPr>
              <a:spcAft>
                <a:spcPts val="300"/>
              </a:spcAft>
            </a:pPr>
            <a:r>
              <a:rPr sz="1500" b="0">
                <a:solidFill>
                  <a:srgbClr val="C7D2FE"/>
                </a:solidFill>
                <a:latin typeface="Calibri"/>
              </a:rPr>
              <a:t>Dossier de justification à l'attention du Commissaire aux Apports, en vue de la constitution de Tam Logistics SARL, marque TamCar (droit OHADA)</a:t>
            </a:r>
          </a:p>
        </p:txBody>
      </p:sp>
      <p:sp>
        <p:nvSpPr>
          <p:cNvPr id="7" name="Rounded Rectangle 6"/>
          <p:cNvSpPr/>
          <p:nvPr/>
        </p:nvSpPr>
        <p:spPr>
          <a:xfrm>
            <a:off x="640080" y="3566160"/>
            <a:ext cx="10881360" cy="1554480"/>
          </a:xfrm>
          <a:prstGeom prst="roundRect">
            <a:avLst>
              <a:gd name="adj" fmla="val 6000"/>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566160"/>
            <a:ext cx="137160" cy="1554480"/>
          </a:xfrm>
          <a:prstGeom prst="rect">
            <a:avLst/>
          </a:prstGeom>
          <a:solidFill>
            <a:srgbClr val="EAB3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57600"/>
            <a:ext cx="10058400" cy="274320"/>
          </a:xfrm>
          <a:prstGeom prst="rect">
            <a:avLst/>
          </a:prstGeom>
          <a:noFill/>
        </p:spPr>
        <p:txBody>
          <a:bodyPr wrap="square" lIns="36576" rIns="36576" tIns="18288" bIns="18288">
            <a:spAutoFit/>
          </a:bodyPr>
          <a:lstStyle/>
          <a:p>
            <a:pPr>
              <a:spcAft>
                <a:spcPts val="300"/>
              </a:spcAft>
            </a:pPr>
            <a:r>
              <a:rPr sz="1100" b="1">
                <a:solidFill>
                  <a:srgbClr val="C7D2FE"/>
                </a:solidFill>
                <a:latin typeface="Calibri"/>
              </a:rPr>
              <a:t>VALEUR D'APPORT EN NATURE PROPOSÉE</a:t>
            </a:r>
          </a:p>
        </p:txBody>
      </p:sp>
      <p:sp>
        <p:nvSpPr>
          <p:cNvPr id="10" name="TextBox 9"/>
          <p:cNvSpPr txBox="1"/>
          <p:nvPr/>
        </p:nvSpPr>
        <p:spPr>
          <a:xfrm>
            <a:off x="960120" y="3931920"/>
            <a:ext cx="10058400" cy="731520"/>
          </a:xfrm>
          <a:prstGeom prst="rect">
            <a:avLst/>
          </a:prstGeom>
          <a:noFill/>
        </p:spPr>
        <p:txBody>
          <a:bodyPr wrap="square" lIns="36576" rIns="36576" tIns="18288" bIns="18288">
            <a:spAutoFit/>
          </a:bodyPr>
          <a:lstStyle/>
          <a:p>
            <a:pPr>
              <a:spcAft>
                <a:spcPts val="300"/>
              </a:spcAft>
            </a:pPr>
            <a:r>
              <a:rPr sz="4000" b="1">
                <a:solidFill>
                  <a:srgbClr val="EAB308"/>
                </a:solidFill>
                <a:latin typeface="Calibri"/>
              </a:rPr>
              <a:t>19 500 000 FCFA</a:t>
            </a:r>
          </a:p>
        </p:txBody>
      </p:sp>
      <p:sp>
        <p:nvSpPr>
          <p:cNvPr id="11" name="TextBox 10"/>
          <p:cNvSpPr txBox="1"/>
          <p:nvPr/>
        </p:nvSpPr>
        <p:spPr>
          <a:xfrm>
            <a:off x="960120" y="4663440"/>
            <a:ext cx="10058400" cy="365760"/>
          </a:xfrm>
          <a:prstGeom prst="rect">
            <a:avLst/>
          </a:prstGeom>
          <a:noFill/>
        </p:spPr>
        <p:txBody>
          <a:bodyPr wrap="square" lIns="36576" rIns="36576" tIns="18288" bIns="18288">
            <a:spAutoFit/>
          </a:bodyPr>
          <a:lstStyle/>
          <a:p>
            <a:pPr>
              <a:spcAft>
                <a:spcPts val="300"/>
              </a:spcAft>
            </a:pPr>
            <a:r>
              <a:rPr sz="1200" b="0">
                <a:solidFill>
                  <a:srgbClr val="FFFFFF"/>
                </a:solidFill>
                <a:latin typeface="Calibri"/>
              </a:rPr>
              <a:t>Sous le coût de reproduction (20 M) et la valeur d'usage (25,5 M) · 39 % du coût historique (50 M)</a:t>
            </a:r>
          </a:p>
        </p:txBody>
      </p:sp>
      <p:sp>
        <p:nvSpPr>
          <p:cNvPr id="12" name="TextBox 11"/>
          <p:cNvSpPr txBox="1"/>
          <p:nvPr/>
        </p:nvSpPr>
        <p:spPr>
          <a:xfrm>
            <a:off x="640080" y="5440680"/>
            <a:ext cx="5394960" cy="228600"/>
          </a:xfrm>
          <a:prstGeom prst="rect">
            <a:avLst/>
          </a:prstGeom>
          <a:noFill/>
        </p:spPr>
        <p:txBody>
          <a:bodyPr wrap="square" lIns="36576" rIns="36576" tIns="18288" bIns="18288">
            <a:spAutoFit/>
          </a:bodyPr>
          <a:lstStyle/>
          <a:p>
            <a:pPr>
              <a:spcAft>
                <a:spcPts val="300"/>
              </a:spcAft>
            </a:pPr>
            <a:r>
              <a:rPr sz="800" b="1">
                <a:solidFill>
                  <a:srgbClr val="C7D2FE"/>
                </a:solidFill>
                <a:latin typeface="Calibri"/>
              </a:rPr>
              <a:t>APPORTEUR</a:t>
            </a:r>
          </a:p>
        </p:txBody>
      </p:sp>
      <p:sp>
        <p:nvSpPr>
          <p:cNvPr id="13" name="TextBox 12"/>
          <p:cNvSpPr txBox="1"/>
          <p:nvPr/>
        </p:nvSpPr>
        <p:spPr>
          <a:xfrm>
            <a:off x="640080" y="5623560"/>
            <a:ext cx="5394960" cy="274320"/>
          </a:xfrm>
          <a:prstGeom prst="rect">
            <a:avLst/>
          </a:prstGeom>
          <a:noFill/>
        </p:spPr>
        <p:txBody>
          <a:bodyPr wrap="square" lIns="36576" rIns="36576" tIns="18288" bIns="18288">
            <a:spAutoFit/>
          </a:bodyPr>
          <a:lstStyle/>
          <a:p>
            <a:pPr>
              <a:spcAft>
                <a:spcPts val="300"/>
              </a:spcAft>
            </a:pPr>
            <a:r>
              <a:rPr sz="1100" b="0">
                <a:solidFill>
                  <a:srgbClr val="FFFFFF"/>
                </a:solidFill>
                <a:latin typeface="Calibri"/>
              </a:rPr>
              <a:t>BENAEL, SARL à associé unique (RCCM RB/COT/26 B 44404)</a:t>
            </a:r>
          </a:p>
        </p:txBody>
      </p:sp>
      <p:sp>
        <p:nvSpPr>
          <p:cNvPr id="14" name="TextBox 13"/>
          <p:cNvSpPr txBox="1"/>
          <p:nvPr/>
        </p:nvSpPr>
        <p:spPr>
          <a:xfrm>
            <a:off x="6217920" y="5440680"/>
            <a:ext cx="5394960" cy="228600"/>
          </a:xfrm>
          <a:prstGeom prst="rect">
            <a:avLst/>
          </a:prstGeom>
          <a:noFill/>
        </p:spPr>
        <p:txBody>
          <a:bodyPr wrap="square" lIns="36576" rIns="36576" tIns="18288" bIns="18288">
            <a:spAutoFit/>
          </a:bodyPr>
          <a:lstStyle/>
          <a:p>
            <a:pPr>
              <a:spcAft>
                <a:spcPts val="300"/>
              </a:spcAft>
            </a:pPr>
            <a:r>
              <a:rPr sz="800" b="1">
                <a:solidFill>
                  <a:srgbClr val="C7D2FE"/>
                </a:solidFill>
                <a:latin typeface="Calibri"/>
              </a:rPr>
              <a:t>REPRÉSENTÉE PAR SON GÉRANT</a:t>
            </a:r>
          </a:p>
        </p:txBody>
      </p:sp>
      <p:sp>
        <p:nvSpPr>
          <p:cNvPr id="15" name="TextBox 14"/>
          <p:cNvSpPr txBox="1"/>
          <p:nvPr/>
        </p:nvSpPr>
        <p:spPr>
          <a:xfrm>
            <a:off x="6217920" y="5623560"/>
            <a:ext cx="5394960" cy="274320"/>
          </a:xfrm>
          <a:prstGeom prst="rect">
            <a:avLst/>
          </a:prstGeom>
          <a:noFill/>
        </p:spPr>
        <p:txBody>
          <a:bodyPr wrap="square" lIns="36576" rIns="36576" tIns="18288" bIns="18288">
            <a:spAutoFit/>
          </a:bodyPr>
          <a:lstStyle/>
          <a:p>
            <a:pPr>
              <a:spcAft>
                <a:spcPts val="300"/>
              </a:spcAft>
            </a:pPr>
            <a:r>
              <a:rPr sz="1100" b="0">
                <a:solidFill>
                  <a:srgbClr val="FFFFFF"/>
                </a:solidFill>
                <a:latin typeface="Calibri"/>
              </a:rPr>
              <a:t>Terence Beni Raphaël QUENUM</a:t>
            </a:r>
          </a:p>
        </p:txBody>
      </p:sp>
      <p:sp>
        <p:nvSpPr>
          <p:cNvPr id="16" name="TextBox 15"/>
          <p:cNvSpPr txBox="1"/>
          <p:nvPr/>
        </p:nvSpPr>
        <p:spPr>
          <a:xfrm>
            <a:off x="640080" y="5989320"/>
            <a:ext cx="5394960" cy="228600"/>
          </a:xfrm>
          <a:prstGeom prst="rect">
            <a:avLst/>
          </a:prstGeom>
          <a:noFill/>
        </p:spPr>
        <p:txBody>
          <a:bodyPr wrap="square" lIns="36576" rIns="36576" tIns="18288" bIns="18288">
            <a:spAutoFit/>
          </a:bodyPr>
          <a:lstStyle/>
          <a:p>
            <a:pPr>
              <a:spcAft>
                <a:spcPts val="300"/>
              </a:spcAft>
            </a:pPr>
            <a:r>
              <a:rPr sz="800" b="1">
                <a:solidFill>
                  <a:srgbClr val="C7D2FE"/>
                </a:solidFill>
                <a:latin typeface="Calibri"/>
              </a:rPr>
              <a:t>SOCIÉTÉ BÉNÉFICIAIRE</a:t>
            </a:r>
          </a:p>
        </p:txBody>
      </p:sp>
      <p:sp>
        <p:nvSpPr>
          <p:cNvPr id="17" name="TextBox 16"/>
          <p:cNvSpPr txBox="1"/>
          <p:nvPr/>
        </p:nvSpPr>
        <p:spPr>
          <a:xfrm>
            <a:off x="640080" y="6172200"/>
            <a:ext cx="5394960" cy="274320"/>
          </a:xfrm>
          <a:prstGeom prst="rect">
            <a:avLst/>
          </a:prstGeom>
          <a:noFill/>
        </p:spPr>
        <p:txBody>
          <a:bodyPr wrap="square" lIns="36576" rIns="36576" tIns="18288" bIns="18288">
            <a:spAutoFit/>
          </a:bodyPr>
          <a:lstStyle/>
          <a:p>
            <a:pPr>
              <a:spcAft>
                <a:spcPts val="300"/>
              </a:spcAft>
            </a:pPr>
            <a:r>
              <a:rPr sz="1100" b="0">
                <a:solidFill>
                  <a:srgbClr val="FFFFFF"/>
                </a:solidFill>
                <a:latin typeface="Calibri"/>
              </a:rPr>
              <a:t>Tam Logistics SARL (en formation), marque TamCar</a:t>
            </a:r>
          </a:p>
        </p:txBody>
      </p:sp>
      <p:sp>
        <p:nvSpPr>
          <p:cNvPr id="18" name="TextBox 17"/>
          <p:cNvSpPr txBox="1"/>
          <p:nvPr/>
        </p:nvSpPr>
        <p:spPr>
          <a:xfrm>
            <a:off x="6217920" y="5989320"/>
            <a:ext cx="5394960" cy="228600"/>
          </a:xfrm>
          <a:prstGeom prst="rect">
            <a:avLst/>
          </a:prstGeom>
          <a:noFill/>
        </p:spPr>
        <p:txBody>
          <a:bodyPr wrap="square" lIns="36576" rIns="36576" tIns="18288" bIns="18288">
            <a:spAutoFit/>
          </a:bodyPr>
          <a:lstStyle/>
          <a:p>
            <a:pPr>
              <a:spcAft>
                <a:spcPts val="300"/>
              </a:spcAft>
            </a:pPr>
            <a:r>
              <a:rPr sz="800" b="1">
                <a:solidFill>
                  <a:srgbClr val="C7D2FE"/>
                </a:solidFill>
                <a:latin typeface="Calibri"/>
              </a:rPr>
              <a:t>NATURE · CADRE</a:t>
            </a:r>
          </a:p>
        </p:txBody>
      </p:sp>
      <p:sp>
        <p:nvSpPr>
          <p:cNvPr id="19" name="TextBox 18"/>
          <p:cNvSpPr txBox="1"/>
          <p:nvPr/>
        </p:nvSpPr>
        <p:spPr>
          <a:xfrm>
            <a:off x="6217920" y="6172200"/>
            <a:ext cx="5394960" cy="274320"/>
          </a:xfrm>
          <a:prstGeom prst="rect">
            <a:avLst/>
          </a:prstGeom>
          <a:noFill/>
        </p:spPr>
        <p:txBody>
          <a:bodyPr wrap="square" lIns="36576" rIns="36576" tIns="18288" bIns="18288">
            <a:spAutoFit/>
          </a:bodyPr>
          <a:lstStyle/>
          <a:p>
            <a:pPr>
              <a:spcAft>
                <a:spcPts val="300"/>
              </a:spcAft>
            </a:pPr>
            <a:r>
              <a:rPr sz="1100" b="0">
                <a:solidFill>
                  <a:srgbClr val="FFFFFF"/>
                </a:solidFill>
                <a:latin typeface="Calibri"/>
              </a:rPr>
              <a:t>Propriété intellectuelle · Art. 312 AUSCGIE · V2.0,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01</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Résumé exécutif</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Ce dossier en une page</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2 / 15</a:t>
            </a:r>
          </a:p>
        </p:txBody>
      </p:sp>
      <p:sp>
        <p:nvSpPr>
          <p:cNvPr id="10" name="TextBox 9"/>
          <p:cNvSpPr txBox="1"/>
          <p:nvPr/>
        </p:nvSpPr>
        <p:spPr>
          <a:xfrm>
            <a:off x="640080" y="1280160"/>
            <a:ext cx="5486400" cy="1188720"/>
          </a:xfrm>
          <a:prstGeom prst="rect">
            <a:avLst/>
          </a:prstGeom>
          <a:noFill/>
        </p:spPr>
        <p:txBody>
          <a:bodyPr wrap="square" lIns="36576" rIns="36576" tIns="18288" bIns="18288">
            <a:spAutoFit/>
          </a:bodyPr>
          <a:lstStyle/>
          <a:p>
            <a:pPr>
              <a:spcAft>
                <a:spcPts val="300"/>
              </a:spcAft>
            </a:pPr>
            <a:r>
              <a:rPr sz="1150" b="0">
                <a:solidFill>
                  <a:srgbClr val="64748B"/>
                </a:solidFill>
                <a:latin typeface="Calibri"/>
              </a:rPr>
              <a:t>Ce document justifie la valorisation de l'apport en nature de </a:t>
            </a:r>
            <a:r>
              <a:rPr sz="1150" b="1">
                <a:solidFill>
                  <a:srgbClr val="64748B"/>
                </a:solidFill>
                <a:latin typeface="Calibri"/>
              </a:rPr>
              <a:t>BENAEL</a:t>
            </a:r>
            <a:r>
              <a:rPr sz="1150" b="0">
                <a:solidFill>
                  <a:srgbClr val="64748B"/>
                </a:solidFill>
                <a:latin typeface="Calibri"/>
              </a:rPr>
              <a:t> à Tam Logistics SARL (marque TamCar), société en formation. Il assiste le Commissaire aux Apports dans sa mission (</a:t>
            </a:r>
            <a:r>
              <a:rPr sz="1150" b="1">
                <a:solidFill>
                  <a:srgbClr val="64748B"/>
                </a:solidFill>
                <a:latin typeface="Calibri"/>
              </a:rPr>
              <a:t>art. 312 AUSCGIE</a:t>
            </a:r>
            <a:r>
              <a:rPr sz="1150" b="0">
                <a:solidFill>
                  <a:srgbClr val="64748B"/>
                </a:solidFill>
                <a:latin typeface="Calibri"/>
              </a:rPr>
              <a:t>).</a:t>
            </a:r>
          </a:p>
        </p:txBody>
      </p:sp>
      <p:sp>
        <p:nvSpPr>
          <p:cNvPr id="11" name="Rectangle 10"/>
          <p:cNvSpPr/>
          <p:nvPr/>
        </p:nvSpPr>
        <p:spPr>
          <a:xfrm>
            <a:off x="640080" y="259689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514600"/>
            <a:ext cx="5303520" cy="68580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Plateforme en production — </a:t>
            </a:r>
            <a:r>
              <a:rPr sz="1050" b="0">
                <a:solidFill>
                  <a:srgbClr val="0F172A"/>
                </a:solidFill>
                <a:latin typeface="Calibri"/>
              </a:rPr>
              <a:t>actif fonctionnel testable en temps réel.</a:t>
            </a:r>
          </a:p>
        </p:txBody>
      </p:sp>
      <p:sp>
        <p:nvSpPr>
          <p:cNvPr id="13" name="Rectangle 12"/>
          <p:cNvSpPr/>
          <p:nvPr/>
        </p:nvSpPr>
        <p:spPr>
          <a:xfrm>
            <a:off x="640080" y="3310128"/>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227832"/>
            <a:ext cx="5303520" cy="68580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Périmètre au 20 octobre 2026 — </a:t>
            </a:r>
            <a:r>
              <a:rPr sz="1050" b="0">
                <a:solidFill>
                  <a:srgbClr val="0F172A"/>
                </a:solidFill>
                <a:latin typeface="Calibri"/>
              </a:rPr>
              <a:t>4 applications web et 2 coques Android, 107 écrans, 90 tables, 349 fonctions métier.</a:t>
            </a:r>
          </a:p>
        </p:txBody>
      </p:sp>
      <p:sp>
        <p:nvSpPr>
          <p:cNvPr id="15" name="Rectangle 14"/>
          <p:cNvSpPr/>
          <p:nvPr/>
        </p:nvSpPr>
        <p:spPr>
          <a:xfrm>
            <a:off x="640080" y="4023360"/>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941064"/>
            <a:ext cx="5303520" cy="68580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Origine de la valeur — </a:t>
            </a:r>
            <a:r>
              <a:rPr sz="1050" b="0">
                <a:solidFill>
                  <a:srgbClr val="0F172A"/>
                </a:solidFill>
                <a:latin typeface="Calibri"/>
              </a:rPr>
              <a:t>celle qui permet la répartition convenue avec l'investisseur (15 M en numéraire pour 40 %).</a:t>
            </a:r>
          </a:p>
        </p:txBody>
      </p:sp>
      <p:sp>
        <p:nvSpPr>
          <p:cNvPr id="17" name="Rectangle 16"/>
          <p:cNvSpPr/>
          <p:nvPr/>
        </p:nvSpPr>
        <p:spPr>
          <a:xfrm>
            <a:off x="640080" y="4736592"/>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654296"/>
            <a:ext cx="5303520" cy="68580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Titularité — </a:t>
            </a:r>
            <a:r>
              <a:rPr sz="1050" b="0">
                <a:solidFill>
                  <a:srgbClr val="0F172A"/>
                </a:solidFill>
                <a:latin typeface="Calibri"/>
              </a:rPr>
              <a:t>travaux du fondateur cédés à BENAEL en apport, puis apport à la société.</a:t>
            </a:r>
          </a:p>
        </p:txBody>
      </p:sp>
      <p:graphicFrame>
        <p:nvGraphicFramePr>
          <p:cNvPr id="19" name="Table 18"/>
          <p:cNvGraphicFramePr>
            <a:graphicFrameLocks noGrp="1"/>
          </p:cNvGraphicFramePr>
          <p:nvPr/>
        </p:nvGraphicFramePr>
        <p:xfrm>
          <a:off x="6400800" y="1325880"/>
          <a:ext cx="5148071" cy="2834640"/>
        </p:xfrm>
        <a:graphic>
          <a:graphicData uri="http://schemas.openxmlformats.org/drawingml/2006/table">
            <a:tbl>
              <a:tblPr firstRow="1" bandRow="1">
                <a:tableStyleId>{5C22544A-7EE6-4342-B048-85BDC9FD1C3A}</a:tableStyleId>
              </a:tblPr>
              <a:tblGrid>
                <a:gridCol w="3564049"/>
                <a:gridCol w="1584022"/>
              </a:tblGrid>
              <a:tr h="566928">
                <a:tc>
                  <a:txBody>
                    <a:bodyPr wrap="square"/>
                    <a:lstStyle/>
                    <a:p>
                      <a:r>
                        <a:rPr sz="1050" b="1">
                          <a:solidFill>
                            <a:srgbClr val="FFFFFF"/>
                          </a:solidFill>
                          <a:latin typeface="Calibri"/>
                        </a:rPr>
                        <a:t>Méthode</a:t>
                      </a:r>
                    </a:p>
                  </a:txBody>
                  <a:tcPr marL="64008" marR="64008" marT="27432" marB="27432" anchor="ctr">
                    <a:solidFill>
                      <a:srgbClr val="1E3A8A"/>
                    </a:solidFill>
                  </a:tcPr>
                </a:tc>
                <a:tc>
                  <a:txBody>
                    <a:bodyPr wrap="square"/>
                    <a:lstStyle/>
                    <a:p>
                      <a:pPr algn="r"/>
                      <a:r>
                        <a:rPr sz="1050" b="1">
                          <a:solidFill>
                            <a:srgbClr val="FFFFFF"/>
                          </a:solidFill>
                          <a:latin typeface="Calibri"/>
                        </a:rPr>
                        <a:t>Valeur</a:t>
                      </a:r>
                    </a:p>
                  </a:txBody>
                  <a:tcPr marL="64008" marR="64008" marT="27432" marB="27432" anchor="ctr">
                    <a:solidFill>
                      <a:srgbClr val="1E3A8A"/>
                    </a:solidFill>
                  </a:tcPr>
                </a:tc>
              </a:tr>
              <a:tr h="566928">
                <a:tc>
                  <a:txBody>
                    <a:bodyPr wrap="square"/>
                    <a:lstStyle/>
                    <a:p>
                      <a:r>
                        <a:rPr sz="1050" b="0">
                          <a:solidFill>
                            <a:srgbClr val="0F172A"/>
                          </a:solidFill>
                          <a:latin typeface="Calibri"/>
                        </a:rPr>
                        <a:t>A · Coût historique
2 000 h × 25 000 F/h</a:t>
                      </a:r>
                    </a:p>
                  </a:txBody>
                  <a:tcPr marL="64008" marR="64008" marT="27432" marB="27432" anchor="ctr">
                    <a:solidFill>
                      <a:srgbClr val="FFFFFF"/>
                    </a:solidFill>
                  </a:tcPr>
                </a:tc>
                <a:tc>
                  <a:txBody>
                    <a:bodyPr wrap="square"/>
                    <a:lstStyle/>
                    <a:p>
                      <a:pPr algn="r"/>
                      <a:r>
                        <a:rPr sz="1050" b="0">
                          <a:solidFill>
                            <a:srgbClr val="0F172A"/>
                          </a:solidFill>
                          <a:latin typeface="Calibri"/>
                        </a:rPr>
                        <a:t>50 000 000 F</a:t>
                      </a:r>
                    </a:p>
                  </a:txBody>
                  <a:tcPr marL="64008" marR="64008" marT="27432" marB="27432" anchor="ctr">
                    <a:solidFill>
                      <a:srgbClr val="FFFFFF"/>
                    </a:solidFill>
                  </a:tcPr>
                </a:tc>
              </a:tr>
              <a:tr h="566928">
                <a:tc>
                  <a:txBody>
                    <a:bodyPr wrap="square"/>
                    <a:lstStyle/>
                    <a:p>
                      <a:r>
                        <a:rPr sz="1050" b="0">
                          <a:solidFill>
                            <a:srgbClr val="0F172A"/>
                          </a:solidFill>
                          <a:latin typeface="Calibri"/>
                        </a:rPr>
                        <a:t>B · Coût de reproduction
800 h × 25 000 F/h</a:t>
                      </a:r>
                    </a:p>
                  </a:txBody>
                  <a:tcPr marL="64008" marR="64008" marT="27432" marB="27432" anchor="ctr">
                    <a:solidFill>
                      <a:srgbClr val="F8FAFC"/>
                    </a:solidFill>
                  </a:tcPr>
                </a:tc>
                <a:tc>
                  <a:txBody>
                    <a:bodyPr wrap="square"/>
                    <a:lstStyle/>
                    <a:p>
                      <a:pPr algn="r"/>
                      <a:r>
                        <a:rPr sz="1050" b="0">
                          <a:solidFill>
                            <a:srgbClr val="0F172A"/>
                          </a:solidFill>
                          <a:latin typeface="Calibri"/>
                        </a:rPr>
                        <a:t>20 000 000 F</a:t>
                      </a:r>
                    </a:p>
                  </a:txBody>
                  <a:tcPr marL="64008" marR="64008" marT="27432" marB="27432" anchor="ctr">
                    <a:solidFill>
                      <a:srgbClr val="F8FAFC"/>
                    </a:solidFill>
                  </a:tcPr>
                </a:tc>
              </a:tr>
              <a:tr h="566928">
                <a:tc>
                  <a:txBody>
                    <a:bodyPr wrap="square"/>
                    <a:lstStyle/>
                    <a:p>
                      <a:r>
                        <a:rPr sz="1050" b="0">
                          <a:solidFill>
                            <a:srgbClr val="0F172A"/>
                          </a:solidFill>
                          <a:latin typeface="Calibri"/>
                        </a:rPr>
                        <a:t>C · Valeur d'usage
Revenus 36 mois, actualisés à 20 %</a:t>
                      </a:r>
                    </a:p>
                  </a:txBody>
                  <a:tcPr marL="64008" marR="64008" marT="27432" marB="27432" anchor="ctr">
                    <a:solidFill>
                      <a:srgbClr val="FFFFFF"/>
                    </a:solidFill>
                  </a:tcPr>
                </a:tc>
                <a:tc>
                  <a:txBody>
                    <a:bodyPr wrap="square"/>
                    <a:lstStyle/>
                    <a:p>
                      <a:pPr algn="r"/>
                      <a:r>
                        <a:rPr sz="1050" b="0">
                          <a:solidFill>
                            <a:srgbClr val="0F172A"/>
                          </a:solidFill>
                          <a:latin typeface="Calibri"/>
                        </a:rPr>
                        <a:t>25 500 000 F</a:t>
                      </a:r>
                    </a:p>
                  </a:txBody>
                  <a:tcPr marL="64008" marR="64008" marT="27432" marB="27432" anchor="ctr">
                    <a:solidFill>
                      <a:srgbClr val="FFFFFF"/>
                    </a:solidFill>
                  </a:tcPr>
                </a:tc>
              </a:tr>
              <a:tr h="566928">
                <a:tc>
                  <a:txBody>
                    <a:bodyPr wrap="square"/>
                    <a:lstStyle/>
                    <a:p>
                      <a:r>
                        <a:rPr sz="1050" b="1">
                          <a:solidFill>
                            <a:srgbClr val="0F172A"/>
                          </a:solidFill>
                          <a:latin typeface="Calibri"/>
                        </a:rPr>
                        <a:t>Valeur proposée</a:t>
                      </a:r>
                    </a:p>
                  </a:txBody>
                  <a:tcPr marL="64008" marR="64008" marT="27432" marB="27432" anchor="ctr">
                    <a:solidFill>
                      <a:srgbClr val="DBEAFE"/>
                    </a:solidFill>
                  </a:tcPr>
                </a:tc>
                <a:tc>
                  <a:txBody>
                    <a:bodyPr wrap="square"/>
                    <a:lstStyle/>
                    <a:p>
                      <a:pPr algn="r"/>
                      <a:r>
                        <a:rPr sz="1050" b="1">
                          <a:solidFill>
                            <a:srgbClr val="0F172A"/>
                          </a:solidFill>
                          <a:latin typeface="Calibri"/>
                        </a:rPr>
                        <a:t>19 500 000 F</a:t>
                      </a:r>
                    </a:p>
                  </a:txBody>
                  <a:tcPr marL="64008" marR="64008" marT="27432" marB="27432" anchor="ctr">
                    <a:solidFill>
                      <a:srgbClr val="DBEAFE"/>
                    </a:solidFill>
                  </a:tcPr>
                </a:tc>
              </a:tr>
            </a:tbl>
          </a:graphicData>
        </a:graphic>
      </p:graphicFrame>
      <p:sp>
        <p:nvSpPr>
          <p:cNvPr id="20" name="TextBox 19"/>
          <p:cNvSpPr txBox="1"/>
          <p:nvPr/>
        </p:nvSpPr>
        <p:spPr>
          <a:xfrm>
            <a:off x="6400800" y="4297680"/>
            <a:ext cx="5148072" cy="548640"/>
          </a:xfrm>
          <a:prstGeom prst="rect">
            <a:avLst/>
          </a:prstGeom>
          <a:noFill/>
        </p:spPr>
        <p:txBody>
          <a:bodyPr wrap="square" lIns="36576" rIns="36576" tIns="18288" bIns="18288">
            <a:spAutoFit/>
          </a:bodyPr>
          <a:lstStyle/>
          <a:p>
            <a:pPr>
              <a:spcAft>
                <a:spcPts val="300"/>
              </a:spcAft>
            </a:pPr>
            <a:r>
              <a:rPr sz="1000" b="0">
                <a:solidFill>
                  <a:srgbClr val="64748B"/>
                </a:solidFill>
                <a:latin typeface="Calibri"/>
              </a:rPr>
              <a:t>− 2,5 % sur B · − 23,5 % sur C · 39 % de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02</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Description de l'apport</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Nature et périmètre du bien apporté</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3 / 15</a:t>
            </a:r>
          </a:p>
        </p:txBody>
      </p:sp>
      <p:sp>
        <p:nvSpPr>
          <p:cNvPr id="10" name="TextBox 9"/>
          <p:cNvSpPr txBox="1"/>
          <p:nvPr/>
        </p:nvSpPr>
        <p:spPr>
          <a:xfrm>
            <a:off x="640080" y="1261872"/>
            <a:ext cx="6766560" cy="7315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L'apport consiste en la </a:t>
            </a:r>
            <a:r>
              <a:rPr sz="1100" b="1">
                <a:solidFill>
                  <a:srgbClr val="64748B"/>
                </a:solidFill>
                <a:latin typeface="Calibri"/>
              </a:rPr>
              <a:t>totalité des droits patrimoniaux</a:t>
            </a:r>
            <a:r>
              <a:rPr sz="1100" b="0">
                <a:solidFill>
                  <a:srgbClr val="64748B"/>
                </a:solidFill>
                <a:latin typeface="Calibri"/>
              </a:rPr>
              <a:t> attachés à la plateforme « TamCar », dans les limites de la liste fermée de l'annexe 1 :</a:t>
            </a:r>
          </a:p>
        </p:txBody>
      </p:sp>
      <p:sp>
        <p:nvSpPr>
          <p:cNvPr id="11" name="Rectangle 10"/>
          <p:cNvSpPr/>
          <p:nvPr/>
        </p:nvSpPr>
        <p:spPr>
          <a:xfrm>
            <a:off x="640080" y="200253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1920240"/>
            <a:ext cx="6583680"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Code source — </a:t>
            </a:r>
            <a:r>
              <a:rPr sz="1050" b="0">
                <a:solidFill>
                  <a:srgbClr val="0F172A"/>
                </a:solidFill>
                <a:latin typeface="Calibri"/>
              </a:rPr>
              <a:t>passagers, chauffeurs (TamCar Pro), TamCar Office, site vitrine, coques Android.</a:t>
            </a:r>
          </a:p>
        </p:txBody>
      </p:sp>
      <p:sp>
        <p:nvSpPr>
          <p:cNvPr id="13" name="Rectangle 12"/>
          <p:cNvSpPr/>
          <p:nvPr/>
        </p:nvSpPr>
        <p:spPr>
          <a:xfrm>
            <a:off x="640080" y="2569464"/>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2487168"/>
            <a:ext cx="6583680"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Base de données — </a:t>
            </a:r>
            <a:r>
              <a:rPr sz="1050" b="0">
                <a:solidFill>
                  <a:srgbClr val="0F172A"/>
                </a:solidFill>
                <a:latin typeface="Calibri"/>
              </a:rPr>
              <a:t>schéma, sécurité, fonctions, tâches planifiées, fonctions serveur.</a:t>
            </a:r>
          </a:p>
        </p:txBody>
      </p:sp>
      <p:sp>
        <p:nvSpPr>
          <p:cNvPr id="15" name="Rectangle 14"/>
          <p:cNvSpPr/>
          <p:nvPr/>
        </p:nvSpPr>
        <p:spPr>
          <a:xfrm>
            <a:off x="640080" y="3136391"/>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054096"/>
            <a:ext cx="6583680"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Documentation — </a:t>
            </a:r>
            <a:r>
              <a:rPr sz="1050" b="0">
                <a:solidFill>
                  <a:srgbClr val="0F172A"/>
                </a:solidFill>
                <a:latin typeface="Calibri"/>
              </a:rPr>
              <a:t>spécifications, guides, roadmap, plan d'affaires.</a:t>
            </a:r>
          </a:p>
        </p:txBody>
      </p:sp>
      <p:sp>
        <p:nvSpPr>
          <p:cNvPr id="17" name="Rectangle 16"/>
          <p:cNvSpPr/>
          <p:nvPr/>
        </p:nvSpPr>
        <p:spPr>
          <a:xfrm>
            <a:off x="640080" y="3703320"/>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621024"/>
            <a:ext cx="6583680"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Marque — </a:t>
            </a:r>
            <a:r>
              <a:rPr sz="1050" b="0">
                <a:solidFill>
                  <a:srgbClr val="0F172A"/>
                </a:solidFill>
                <a:latin typeface="Calibri"/>
              </a:rPr>
              <a:t>nom, logo, slogan, charte, sous-marques, droit de dépôt.</a:t>
            </a:r>
          </a:p>
        </p:txBody>
      </p:sp>
      <p:sp>
        <p:nvSpPr>
          <p:cNvPr id="19" name="Rectangle 18"/>
          <p:cNvSpPr/>
          <p:nvPr/>
        </p:nvSpPr>
        <p:spPr>
          <a:xfrm>
            <a:off x="640080" y="4270248"/>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59" y="4187952"/>
            <a:ext cx="6583680"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Savoir-faire — </a:t>
            </a:r>
            <a:r>
              <a:rPr sz="1050" b="0">
                <a:solidFill>
                  <a:srgbClr val="0F172A"/>
                </a:solidFill>
                <a:latin typeface="Calibri"/>
              </a:rPr>
              <a:t>tarifs, partage des revenus, cession échelonnée, TamAssur, matching.</a:t>
            </a:r>
          </a:p>
        </p:txBody>
      </p:sp>
      <p:sp>
        <p:nvSpPr>
          <p:cNvPr id="21" name="Rectangle 20"/>
          <p:cNvSpPr/>
          <p:nvPr/>
        </p:nvSpPr>
        <p:spPr>
          <a:xfrm>
            <a:off x="640080" y="483717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59" y="4754880"/>
            <a:ext cx="6583680"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Documents types — </a:t>
            </a:r>
            <a:r>
              <a:rPr sz="1050" b="0">
                <a:solidFill>
                  <a:srgbClr val="0F172A"/>
                </a:solidFill>
                <a:latin typeface="Calibri"/>
              </a:rPr>
              <a:t>contrat de partenariat, conditions générales, reçus, plaquettes.</a:t>
            </a:r>
          </a:p>
        </p:txBody>
      </p:sp>
      <p:sp>
        <p:nvSpPr>
          <p:cNvPr id="23" name="Rectangle 22"/>
          <p:cNvSpPr/>
          <p:nvPr/>
        </p:nvSpPr>
        <p:spPr>
          <a:xfrm>
            <a:off x="640080" y="5404104"/>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 y="5321808"/>
            <a:ext cx="6583680"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Noms de domaine — </a:t>
            </a:r>
            <a:r>
              <a:rPr sz="1050" b="0">
                <a:solidFill>
                  <a:srgbClr val="0F172A"/>
                </a:solidFill>
                <a:latin typeface="Calibri"/>
              </a:rPr>
              <a:t>liés à TamCar.</a:t>
            </a:r>
          </a:p>
        </p:txBody>
      </p:sp>
      <p:sp>
        <p:nvSpPr>
          <p:cNvPr id="25" name="Rounded Rectangle 24"/>
          <p:cNvSpPr/>
          <p:nvPr/>
        </p:nvSpPr>
        <p:spPr>
          <a:xfrm>
            <a:off x="7772400" y="1417320"/>
            <a:ext cx="1828800" cy="13258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1600200"/>
            <a:ext cx="1828800" cy="548640"/>
          </a:xfrm>
          <a:prstGeom prst="rect">
            <a:avLst/>
          </a:prstGeom>
          <a:noFill/>
        </p:spPr>
        <p:txBody>
          <a:bodyPr wrap="square" lIns="36576" rIns="36576" tIns="18288" bIns="18288">
            <a:spAutoFit/>
          </a:bodyPr>
          <a:lstStyle/>
          <a:p>
            <a:pPr algn="ctr">
              <a:spcAft>
                <a:spcPts val="300"/>
              </a:spcAft>
            </a:pPr>
            <a:r>
              <a:rPr sz="2600" b="1">
                <a:solidFill>
                  <a:srgbClr val="2563EB"/>
                </a:solidFill>
                <a:latin typeface="Calibri"/>
              </a:rPr>
              <a:t>4 + 2</a:t>
            </a:r>
          </a:p>
        </p:txBody>
      </p:sp>
      <p:sp>
        <p:nvSpPr>
          <p:cNvPr id="27" name="TextBox 26"/>
          <p:cNvSpPr txBox="1"/>
          <p:nvPr/>
        </p:nvSpPr>
        <p:spPr>
          <a:xfrm>
            <a:off x="7863840" y="2194560"/>
            <a:ext cx="1645920" cy="457200"/>
          </a:xfrm>
          <a:prstGeom prst="rect">
            <a:avLst/>
          </a:prstGeom>
          <a:noFill/>
        </p:spPr>
        <p:txBody>
          <a:bodyPr wrap="square" lIns="36576" rIns="36576" tIns="18288" bIns="18288">
            <a:spAutoFit/>
          </a:bodyPr>
          <a:lstStyle/>
          <a:p>
            <a:pPr algn="ctr">
              <a:spcAft>
                <a:spcPts val="300"/>
              </a:spcAft>
            </a:pPr>
            <a:r>
              <a:rPr sz="1000" b="0">
                <a:solidFill>
                  <a:srgbClr val="64748B"/>
                </a:solidFill>
                <a:latin typeface="Calibri"/>
              </a:rPr>
              <a:t>Applications web + coques Android</a:t>
            </a:r>
          </a:p>
        </p:txBody>
      </p:sp>
      <p:sp>
        <p:nvSpPr>
          <p:cNvPr id="28" name="Rounded Rectangle 27"/>
          <p:cNvSpPr/>
          <p:nvPr/>
        </p:nvSpPr>
        <p:spPr>
          <a:xfrm>
            <a:off x="9710928" y="1417320"/>
            <a:ext cx="1828800" cy="13258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10928" y="1600200"/>
            <a:ext cx="1828800" cy="548640"/>
          </a:xfrm>
          <a:prstGeom prst="rect">
            <a:avLst/>
          </a:prstGeom>
          <a:noFill/>
        </p:spPr>
        <p:txBody>
          <a:bodyPr wrap="square" lIns="36576" rIns="36576" tIns="18288" bIns="18288">
            <a:spAutoFit/>
          </a:bodyPr>
          <a:lstStyle/>
          <a:p>
            <a:pPr algn="ctr">
              <a:spcAft>
                <a:spcPts val="300"/>
              </a:spcAft>
            </a:pPr>
            <a:r>
              <a:rPr sz="2600" b="1">
                <a:solidFill>
                  <a:srgbClr val="2563EB"/>
                </a:solidFill>
                <a:latin typeface="Calibri"/>
              </a:rPr>
              <a:t>107</a:t>
            </a:r>
          </a:p>
        </p:txBody>
      </p:sp>
      <p:sp>
        <p:nvSpPr>
          <p:cNvPr id="30" name="TextBox 29"/>
          <p:cNvSpPr txBox="1"/>
          <p:nvPr/>
        </p:nvSpPr>
        <p:spPr>
          <a:xfrm>
            <a:off x="9802368" y="2194560"/>
            <a:ext cx="1645920" cy="457200"/>
          </a:xfrm>
          <a:prstGeom prst="rect">
            <a:avLst/>
          </a:prstGeom>
          <a:noFill/>
        </p:spPr>
        <p:txBody>
          <a:bodyPr wrap="square" lIns="36576" rIns="36576" tIns="18288" bIns="18288">
            <a:spAutoFit/>
          </a:bodyPr>
          <a:lstStyle/>
          <a:p>
            <a:pPr algn="ctr">
              <a:spcAft>
                <a:spcPts val="300"/>
              </a:spcAft>
            </a:pPr>
            <a:r>
              <a:rPr sz="1000" b="0">
                <a:solidFill>
                  <a:srgbClr val="64748B"/>
                </a:solidFill>
                <a:latin typeface="Calibri"/>
              </a:rPr>
              <a:t>Écrans</a:t>
            </a:r>
          </a:p>
        </p:txBody>
      </p:sp>
      <p:sp>
        <p:nvSpPr>
          <p:cNvPr id="31" name="Rounded Rectangle 30"/>
          <p:cNvSpPr/>
          <p:nvPr/>
        </p:nvSpPr>
        <p:spPr>
          <a:xfrm>
            <a:off x="7772400" y="2880360"/>
            <a:ext cx="1828800" cy="13258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0" y="3063240"/>
            <a:ext cx="1828800" cy="548640"/>
          </a:xfrm>
          <a:prstGeom prst="rect">
            <a:avLst/>
          </a:prstGeom>
          <a:noFill/>
        </p:spPr>
        <p:txBody>
          <a:bodyPr wrap="square" lIns="36576" rIns="36576" tIns="18288" bIns="18288">
            <a:spAutoFit/>
          </a:bodyPr>
          <a:lstStyle/>
          <a:p>
            <a:pPr algn="ctr">
              <a:spcAft>
                <a:spcPts val="300"/>
              </a:spcAft>
            </a:pPr>
            <a:r>
              <a:rPr sz="2600" b="1">
                <a:solidFill>
                  <a:srgbClr val="2563EB"/>
                </a:solidFill>
                <a:latin typeface="Calibri"/>
              </a:rPr>
              <a:t>349</a:t>
            </a:r>
          </a:p>
        </p:txBody>
      </p:sp>
      <p:sp>
        <p:nvSpPr>
          <p:cNvPr id="33" name="TextBox 32"/>
          <p:cNvSpPr txBox="1"/>
          <p:nvPr/>
        </p:nvSpPr>
        <p:spPr>
          <a:xfrm>
            <a:off x="7863840" y="3657600"/>
            <a:ext cx="1645920" cy="457200"/>
          </a:xfrm>
          <a:prstGeom prst="rect">
            <a:avLst/>
          </a:prstGeom>
          <a:noFill/>
        </p:spPr>
        <p:txBody>
          <a:bodyPr wrap="square" lIns="36576" rIns="36576" tIns="18288" bIns="18288">
            <a:spAutoFit/>
          </a:bodyPr>
          <a:lstStyle/>
          <a:p>
            <a:pPr algn="ctr">
              <a:spcAft>
                <a:spcPts val="300"/>
              </a:spcAft>
            </a:pPr>
            <a:r>
              <a:rPr sz="1000" b="0">
                <a:solidFill>
                  <a:srgbClr val="64748B"/>
                </a:solidFill>
                <a:latin typeface="Calibri"/>
              </a:rPr>
              <a:t>Fonctions métier</a:t>
            </a:r>
          </a:p>
        </p:txBody>
      </p:sp>
      <p:sp>
        <p:nvSpPr>
          <p:cNvPr id="34" name="Rounded Rectangle 33"/>
          <p:cNvSpPr/>
          <p:nvPr/>
        </p:nvSpPr>
        <p:spPr>
          <a:xfrm>
            <a:off x="9710928" y="2880360"/>
            <a:ext cx="1828800" cy="13258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10928" y="3063240"/>
            <a:ext cx="1828800" cy="548640"/>
          </a:xfrm>
          <a:prstGeom prst="rect">
            <a:avLst/>
          </a:prstGeom>
          <a:noFill/>
        </p:spPr>
        <p:txBody>
          <a:bodyPr wrap="square" lIns="36576" rIns="36576" tIns="18288" bIns="18288">
            <a:spAutoFit/>
          </a:bodyPr>
          <a:lstStyle/>
          <a:p>
            <a:pPr algn="ctr">
              <a:spcAft>
                <a:spcPts val="300"/>
              </a:spcAft>
            </a:pPr>
            <a:r>
              <a:rPr sz="2600" b="1">
                <a:solidFill>
                  <a:srgbClr val="2563EB"/>
                </a:solidFill>
                <a:latin typeface="Calibri"/>
              </a:rPr>
              <a:t>90 + 9</a:t>
            </a:r>
          </a:p>
        </p:txBody>
      </p:sp>
      <p:sp>
        <p:nvSpPr>
          <p:cNvPr id="36" name="TextBox 35"/>
          <p:cNvSpPr txBox="1"/>
          <p:nvPr/>
        </p:nvSpPr>
        <p:spPr>
          <a:xfrm>
            <a:off x="9802368" y="3657600"/>
            <a:ext cx="1645920" cy="457200"/>
          </a:xfrm>
          <a:prstGeom prst="rect">
            <a:avLst/>
          </a:prstGeom>
          <a:noFill/>
        </p:spPr>
        <p:txBody>
          <a:bodyPr wrap="square" lIns="36576" rIns="36576" tIns="18288" bIns="18288">
            <a:spAutoFit/>
          </a:bodyPr>
          <a:lstStyle/>
          <a:p>
            <a:pPr algn="ctr">
              <a:spcAft>
                <a:spcPts val="300"/>
              </a:spcAft>
            </a:pPr>
            <a:r>
              <a:rPr sz="1000" b="0">
                <a:solidFill>
                  <a:srgbClr val="64748B"/>
                </a:solidFill>
                <a:latin typeface="Calibri"/>
              </a:rPr>
              <a:t>Tables et vues SQL</a:t>
            </a:r>
          </a:p>
        </p:txBody>
      </p:sp>
      <p:sp>
        <p:nvSpPr>
          <p:cNvPr id="37" name="Rounded Rectangle 36"/>
          <p:cNvSpPr/>
          <p:nvPr/>
        </p:nvSpPr>
        <p:spPr>
          <a:xfrm>
            <a:off x="7772400" y="4343400"/>
            <a:ext cx="1828800" cy="13258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0" y="4526280"/>
            <a:ext cx="1828800" cy="548640"/>
          </a:xfrm>
          <a:prstGeom prst="rect">
            <a:avLst/>
          </a:prstGeom>
          <a:noFill/>
        </p:spPr>
        <p:txBody>
          <a:bodyPr wrap="square" lIns="36576" rIns="36576" tIns="18288" bIns="18288">
            <a:spAutoFit/>
          </a:bodyPr>
          <a:lstStyle/>
          <a:p>
            <a:pPr algn="ctr">
              <a:spcAft>
                <a:spcPts val="300"/>
              </a:spcAft>
            </a:pPr>
            <a:r>
              <a:rPr sz="2600" b="1">
                <a:solidFill>
                  <a:srgbClr val="2563EB"/>
                </a:solidFill>
                <a:latin typeface="Calibri"/>
              </a:rPr>
              <a:t>~132 k</a:t>
            </a:r>
          </a:p>
        </p:txBody>
      </p:sp>
      <p:sp>
        <p:nvSpPr>
          <p:cNvPr id="39" name="TextBox 38"/>
          <p:cNvSpPr txBox="1"/>
          <p:nvPr/>
        </p:nvSpPr>
        <p:spPr>
          <a:xfrm>
            <a:off x="7863840" y="5120640"/>
            <a:ext cx="1645920" cy="457200"/>
          </a:xfrm>
          <a:prstGeom prst="rect">
            <a:avLst/>
          </a:prstGeom>
          <a:noFill/>
        </p:spPr>
        <p:txBody>
          <a:bodyPr wrap="square" lIns="36576" rIns="36576" tIns="18288" bIns="18288">
            <a:spAutoFit/>
          </a:bodyPr>
          <a:lstStyle/>
          <a:p>
            <a:pPr algn="ctr">
              <a:spcAft>
                <a:spcPts val="300"/>
              </a:spcAft>
            </a:pPr>
            <a:r>
              <a:rPr sz="1000" b="0">
                <a:solidFill>
                  <a:srgbClr val="64748B"/>
                </a:solidFill>
                <a:latin typeface="Calibri"/>
              </a:rPr>
              <a:t>Lignes (TypeScript et SQL)</a:t>
            </a:r>
          </a:p>
        </p:txBody>
      </p:sp>
      <p:sp>
        <p:nvSpPr>
          <p:cNvPr id="40" name="Rounded Rectangle 39"/>
          <p:cNvSpPr/>
          <p:nvPr/>
        </p:nvSpPr>
        <p:spPr>
          <a:xfrm>
            <a:off x="9710928" y="4343400"/>
            <a:ext cx="1828800" cy="1325880"/>
          </a:xfrm>
          <a:prstGeom prst="roundRect">
            <a:avLst>
              <a:gd name="adj" fmla="val 8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10928" y="4526280"/>
            <a:ext cx="1828800" cy="548640"/>
          </a:xfrm>
          <a:prstGeom prst="rect">
            <a:avLst/>
          </a:prstGeom>
          <a:noFill/>
        </p:spPr>
        <p:txBody>
          <a:bodyPr wrap="square" lIns="36576" rIns="36576" tIns="18288" bIns="18288">
            <a:spAutoFit/>
          </a:bodyPr>
          <a:lstStyle/>
          <a:p>
            <a:pPr algn="ctr">
              <a:spcAft>
                <a:spcPts val="300"/>
              </a:spcAft>
            </a:pPr>
            <a:r>
              <a:rPr sz="2600" b="1">
                <a:solidFill>
                  <a:srgbClr val="2563EB"/>
                </a:solidFill>
                <a:latin typeface="Calibri"/>
              </a:rPr>
              <a:t>450+</a:t>
            </a:r>
          </a:p>
        </p:txBody>
      </p:sp>
      <p:sp>
        <p:nvSpPr>
          <p:cNvPr id="42" name="TextBox 41"/>
          <p:cNvSpPr txBox="1"/>
          <p:nvPr/>
        </p:nvSpPr>
        <p:spPr>
          <a:xfrm>
            <a:off x="9802368" y="5120640"/>
            <a:ext cx="1645920" cy="457200"/>
          </a:xfrm>
          <a:prstGeom prst="rect">
            <a:avLst/>
          </a:prstGeom>
          <a:noFill/>
        </p:spPr>
        <p:txBody>
          <a:bodyPr wrap="square" lIns="36576" rIns="36576" tIns="18288" bIns="18288">
            <a:spAutoFit/>
          </a:bodyPr>
          <a:lstStyle/>
          <a:p>
            <a:pPr algn="ctr">
              <a:spcAft>
                <a:spcPts val="300"/>
              </a:spcAft>
            </a:pPr>
            <a:r>
              <a:rPr sz="1000" b="0">
                <a:solidFill>
                  <a:srgbClr val="64748B"/>
                </a:solidFill>
                <a:latin typeface="Calibri"/>
              </a:rPr>
              <a:t>Commits Git depuis le 13/07/2026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02</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Catégories de fonctionnalités livrées</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Périmètre fonctionnel au 20 octobre 2026</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4 / 15</a:t>
            </a:r>
          </a:p>
        </p:txBody>
      </p:sp>
      <p:graphicFrame>
        <p:nvGraphicFramePr>
          <p:cNvPr id="10" name="Table 9"/>
          <p:cNvGraphicFramePr>
            <a:graphicFrameLocks noGrp="1"/>
          </p:cNvGraphicFramePr>
          <p:nvPr/>
        </p:nvGraphicFramePr>
        <p:xfrm>
          <a:off x="640080" y="1371600"/>
          <a:ext cx="10908791" cy="4663440"/>
        </p:xfrm>
        <a:graphic>
          <a:graphicData uri="http://schemas.openxmlformats.org/drawingml/2006/table">
            <a:tbl>
              <a:tblPr firstRow="1" bandRow="1">
                <a:tableStyleId>{5C22544A-7EE6-4342-B048-85BDC9FD1C3A}</a:tableStyleId>
              </a:tblPr>
              <a:tblGrid>
                <a:gridCol w="1745406"/>
                <a:gridCol w="9163385"/>
              </a:tblGrid>
              <a:tr h="777240">
                <a:tc>
                  <a:txBody>
                    <a:bodyPr wrap="square"/>
                    <a:lstStyle/>
                    <a:p>
                      <a:r>
                        <a:rPr sz="1050" b="1">
                          <a:solidFill>
                            <a:srgbClr val="FFFFFF"/>
                          </a:solidFill>
                          <a:latin typeface="Calibri"/>
                        </a:rPr>
                        <a:t>Domaine</a:t>
                      </a:r>
                    </a:p>
                  </a:txBody>
                  <a:tcPr marL="64008" marR="64008" marT="27432" marB="27432" anchor="ctr">
                    <a:solidFill>
                      <a:srgbClr val="1E3A8A"/>
                    </a:solidFill>
                  </a:tcPr>
                </a:tc>
                <a:tc>
                  <a:txBody>
                    <a:bodyPr wrap="square"/>
                    <a:lstStyle/>
                    <a:p>
                      <a:r>
                        <a:rPr sz="1050" b="1">
                          <a:solidFill>
                            <a:srgbClr val="FFFFFF"/>
                          </a:solidFill>
                          <a:latin typeface="Calibri"/>
                        </a:rPr>
                        <a:t>Fonctionnalités clés</a:t>
                      </a:r>
                    </a:p>
                  </a:txBody>
                  <a:tcPr marL="64008" marR="64008" marT="27432" marB="27432" anchor="ctr">
                    <a:solidFill>
                      <a:srgbClr val="1E3A8A"/>
                    </a:solidFill>
                  </a:tcPr>
                </a:tc>
              </a:tr>
              <a:tr h="777240">
                <a:tc>
                  <a:txBody>
                    <a:bodyPr wrap="square"/>
                    <a:lstStyle/>
                    <a:p>
                      <a:r>
                        <a:rPr sz="1050" b="0">
                          <a:solidFill>
                            <a:srgbClr val="0F172A"/>
                          </a:solidFill>
                          <a:latin typeface="Calibri"/>
                        </a:rPr>
                        <a:t>Passagers</a:t>
                      </a:r>
                    </a:p>
                  </a:txBody>
                  <a:tcPr marL="64008" marR="64008" marT="27432" marB="27432" anchor="ctr">
                    <a:solidFill>
                      <a:srgbClr val="FFFFFF"/>
                    </a:solidFill>
                  </a:tcPr>
                </a:tc>
                <a:tc>
                  <a:txBody>
                    <a:bodyPr wrap="square"/>
                    <a:lstStyle/>
                    <a:p>
                      <a:r>
                        <a:rPr sz="1050" b="0">
                          <a:solidFill>
                            <a:srgbClr val="0F172A"/>
                          </a:solidFill>
                          <a:latin typeface="Calibri"/>
                        </a:rPr>
                        <a:t>Commande immédiate et à l'avance, catégories Moto, Tricycle, Essentiel, Confort et VIP, suivi du chauffeur en direct (y compris écran verrouillé), chat et appel audio, portefeuille, paiement Mobile Money et carte, facture, notation, TamPass, courses programmées, favoris, suivi de nuit par un proche</a:t>
                      </a:r>
                    </a:p>
                  </a:txBody>
                  <a:tcPr marL="64008" marR="64008" marT="27432" marB="27432" anchor="ctr">
                    <a:solidFill>
                      <a:srgbClr val="FFFFFF"/>
                    </a:solidFill>
                  </a:tcPr>
                </a:tc>
              </a:tr>
              <a:tr h="777240">
                <a:tc>
                  <a:txBody>
                    <a:bodyPr wrap="square"/>
                    <a:lstStyle/>
                    <a:p>
                      <a:r>
                        <a:rPr sz="1050" b="0">
                          <a:solidFill>
                            <a:srgbClr val="0F172A"/>
                          </a:solidFill>
                          <a:latin typeface="Calibri"/>
                        </a:rPr>
                        <a:t>Chauffeurs (TamCar Pro)</a:t>
                      </a:r>
                    </a:p>
                  </a:txBody>
                  <a:tcPr marL="64008" marR="64008" marT="27432" marB="27432" anchor="ctr">
                    <a:solidFill>
                      <a:srgbClr val="F8FAFC"/>
                    </a:solidFill>
                  </a:tcPr>
                </a:tc>
                <a:tc>
                  <a:txBody>
                    <a:bodyPr wrap="square"/>
                    <a:lstStyle/>
                    <a:p>
                      <a:r>
                        <a:rPr sz="1050" b="0">
                          <a:solidFill>
                            <a:srgbClr val="0F172A"/>
                          </a:solidFill>
                          <a:latin typeface="Calibri"/>
                        </a:rPr>
                        <a:t>Mise en ligne, matching par cercles de proximité, navigation, alertes de course, objectif du jour, versement quotidien, TamAssur (épargne), portefeuille et retraits automatiques, litiges et points</a:t>
                      </a:r>
                    </a:p>
                  </a:txBody>
                  <a:tcPr marL="64008" marR="64008" marT="27432" marB="27432" anchor="ctr">
                    <a:solidFill>
                      <a:srgbClr val="F8FAFC"/>
                    </a:solidFill>
                  </a:tcPr>
                </a:tc>
              </a:tr>
              <a:tr h="777240">
                <a:tc>
                  <a:txBody>
                    <a:bodyPr wrap="square"/>
                    <a:lstStyle/>
                    <a:p>
                      <a:r>
                        <a:rPr sz="1050" b="0">
                          <a:solidFill>
                            <a:srgbClr val="0F172A"/>
                          </a:solidFill>
                          <a:latin typeface="Calibri"/>
                        </a:rPr>
                        <a:t>Administration</a:t>
                      </a:r>
                    </a:p>
                  </a:txBody>
                  <a:tcPr marL="64008" marR="64008" marT="27432" marB="27432" anchor="ctr">
                    <a:solidFill>
                      <a:srgbClr val="FFFFFF"/>
                    </a:solidFill>
                  </a:tcPr>
                </a:tc>
                <a:tc>
                  <a:txBody>
                    <a:bodyPr wrap="square"/>
                    <a:lstStyle/>
                    <a:p>
                      <a:r>
                        <a:rPr sz="1050" b="0">
                          <a:solidFill>
                            <a:srgbClr val="0F172A"/>
                          </a:solidFill>
                          <a:latin typeface="Calibri"/>
                        </a:rPr>
                        <a:t>Candidatures et rendez-vous, partenaires et véhicules, contrats et suspension automatique, fonds de rachat, alertes SOS, litiges automatiques, classements semestriels, guide d'utilisation</a:t>
                      </a:r>
                    </a:p>
                  </a:txBody>
                  <a:tcPr marL="64008" marR="64008" marT="27432" marB="27432" anchor="ctr">
                    <a:solidFill>
                      <a:srgbClr val="FFFFFF"/>
                    </a:solidFill>
                  </a:tcPr>
                </a:tc>
              </a:tr>
              <a:tr h="777240">
                <a:tc>
                  <a:txBody>
                    <a:bodyPr wrap="square"/>
                    <a:lstStyle/>
                    <a:p>
                      <a:r>
                        <a:rPr sz="1050" b="0">
                          <a:solidFill>
                            <a:srgbClr val="0F172A"/>
                          </a:solidFill>
                          <a:latin typeface="Calibri"/>
                        </a:rPr>
                        <a:t>TamCar Office</a:t>
                      </a:r>
                    </a:p>
                  </a:txBody>
                  <a:tcPr marL="64008" marR="64008" marT="27432" marB="27432" anchor="ctr">
                    <a:solidFill>
                      <a:srgbClr val="F8FAFC"/>
                    </a:solidFill>
                  </a:tcPr>
                </a:tc>
                <a:tc>
                  <a:txBody>
                    <a:bodyPr wrap="square"/>
                    <a:lstStyle/>
                    <a:p>
                      <a:r>
                        <a:rPr sz="1050" b="0">
                          <a:solidFill>
                            <a:srgbClr val="0F172A"/>
                          </a:solidFill>
                          <a:latin typeface="Calibri"/>
                        </a:rPr>
                        <a:t>Comptabilité SYSCOHADA, trésorerie, paie, courrier, lecture de justificatifs par intelligence artificielle</a:t>
                      </a:r>
                    </a:p>
                  </a:txBody>
                  <a:tcPr marL="64008" marR="64008" marT="27432" marB="27432" anchor="ctr">
                    <a:solidFill>
                      <a:srgbClr val="F8FAFC"/>
                    </a:solidFill>
                  </a:tcPr>
                </a:tc>
              </a:tr>
              <a:tr h="777240">
                <a:tc>
                  <a:txBody>
                    <a:bodyPr wrap="square"/>
                    <a:lstStyle/>
                    <a:p>
                      <a:r>
                        <a:rPr sz="1050" b="0">
                          <a:solidFill>
                            <a:srgbClr val="0F172A"/>
                          </a:solidFill>
                          <a:latin typeface="Calibri"/>
                        </a:rPr>
                        <a:t>Transverse</a:t>
                      </a:r>
                    </a:p>
                  </a:txBody>
                  <a:tcPr marL="64008" marR="64008" marT="27432" marB="27432" anchor="ctr">
                    <a:solidFill>
                      <a:srgbClr val="FFFFFF"/>
                    </a:solidFill>
                  </a:tcPr>
                </a:tc>
                <a:tc>
                  <a:txBody>
                    <a:bodyPr wrap="square"/>
                    <a:lstStyle/>
                    <a:p>
                      <a:r>
                        <a:rPr sz="1050" b="0">
                          <a:solidFill>
                            <a:srgbClr val="0F172A"/>
                          </a:solidFill>
                          <a:latin typeface="Calibri"/>
                        </a:rPr>
                        <a:t>Authentification, notifications push, bot WhatsApp Tamy, site vitrine et espace partenaire, multi-langue, installation PWA et coques Android</a:t>
                      </a:r>
                    </a:p>
                  </a:txBody>
                  <a:tcPr marL="64008" marR="64008" marT="27432" marB="27432"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03</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Méthodologie d'évaluation</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Trois approches convergentes conformes aux standards</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5 / 15</a:t>
            </a:r>
          </a:p>
        </p:txBody>
      </p:sp>
      <p:sp>
        <p:nvSpPr>
          <p:cNvPr id="10" name="TextBox 9"/>
          <p:cNvSpPr txBox="1"/>
          <p:nvPr/>
        </p:nvSpPr>
        <p:spPr>
          <a:xfrm>
            <a:off x="640080" y="1280160"/>
            <a:ext cx="10881360" cy="548640"/>
          </a:xfrm>
          <a:prstGeom prst="rect">
            <a:avLst/>
          </a:prstGeom>
          <a:noFill/>
        </p:spPr>
        <p:txBody>
          <a:bodyPr wrap="square" lIns="36576" rIns="36576" tIns="18288" bIns="18288">
            <a:spAutoFit/>
          </a:bodyPr>
          <a:lstStyle/>
          <a:p>
            <a:pPr>
              <a:spcAft>
                <a:spcPts val="300"/>
              </a:spcAft>
            </a:pPr>
            <a:r>
              <a:rPr sz="1150" b="0">
                <a:solidFill>
                  <a:srgbClr val="64748B"/>
                </a:solidFill>
                <a:latin typeface="Calibri"/>
              </a:rPr>
              <a:t>L'évaluation d'un actif immatériel logiciel s'appuie sur trois familles de méthodes. La valeur proposée se situe </a:t>
            </a:r>
            <a:r>
              <a:rPr sz="1150" b="1">
                <a:solidFill>
                  <a:srgbClr val="64748B"/>
                </a:solidFill>
                <a:latin typeface="Calibri"/>
              </a:rPr>
              <a:t>entre le coût de reproduction et la valeur d'usage</a:t>
            </a:r>
            <a:r>
              <a:rPr sz="1150" b="0">
                <a:solidFill>
                  <a:srgbClr val="64748B"/>
                </a:solidFill>
                <a:latin typeface="Calibri"/>
              </a:rPr>
              <a:t>.</a:t>
            </a:r>
          </a:p>
        </p:txBody>
      </p:sp>
      <p:sp>
        <p:nvSpPr>
          <p:cNvPr id="11" name="Rounded Rectangle 10"/>
          <p:cNvSpPr/>
          <p:nvPr/>
        </p:nvSpPr>
        <p:spPr>
          <a:xfrm>
            <a:off x="640080" y="1920240"/>
            <a:ext cx="3520440" cy="173736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93392"/>
            <a:ext cx="3246120" cy="274320"/>
          </a:xfrm>
          <a:prstGeom prst="rect">
            <a:avLst/>
          </a:prstGeom>
          <a:noFill/>
        </p:spPr>
        <p:txBody>
          <a:bodyPr wrap="square" lIns="36576" rIns="36576" tIns="18288" bIns="18288">
            <a:spAutoFit/>
          </a:bodyPr>
          <a:lstStyle/>
          <a:p>
            <a:pPr>
              <a:spcAft>
                <a:spcPts val="300"/>
              </a:spcAft>
            </a:pPr>
            <a:r>
              <a:rPr sz="1150" b="1">
                <a:solidFill>
                  <a:srgbClr val="1E3A8A"/>
                </a:solidFill>
                <a:latin typeface="Calibri"/>
              </a:rPr>
              <a:t>A. Coût historique</a:t>
            </a:r>
          </a:p>
        </p:txBody>
      </p:sp>
      <p:sp>
        <p:nvSpPr>
          <p:cNvPr id="13" name="TextBox 12"/>
          <p:cNvSpPr txBox="1"/>
          <p:nvPr/>
        </p:nvSpPr>
        <p:spPr>
          <a:xfrm>
            <a:off x="777240" y="2304288"/>
            <a:ext cx="3246120" cy="1280160"/>
          </a:xfrm>
          <a:prstGeom prst="rect">
            <a:avLst/>
          </a:prstGeom>
          <a:noFill/>
        </p:spPr>
        <p:txBody>
          <a:bodyPr wrap="square" lIns="36576" rIns="36576" tIns="18288" bIns="18288">
            <a:spAutoFit/>
          </a:bodyPr>
          <a:lstStyle/>
          <a:p>
            <a:pPr>
              <a:spcAft>
                <a:spcPts val="300"/>
              </a:spcAft>
            </a:pPr>
            <a:r>
              <a:rPr sz="1050" b="0">
                <a:solidFill>
                  <a:srgbClr val="0F172A"/>
                </a:solidFill>
                <a:latin typeface="Calibri"/>
              </a:rPr>
              <a:t>Coût des ressources humaines investies : temps de travail × tarif horaire du marché local. Approche rétrospective.</a:t>
            </a:r>
          </a:p>
        </p:txBody>
      </p:sp>
      <p:sp>
        <p:nvSpPr>
          <p:cNvPr id="14" name="Rounded Rectangle 13"/>
          <p:cNvSpPr/>
          <p:nvPr/>
        </p:nvSpPr>
        <p:spPr>
          <a:xfrm>
            <a:off x="4343400" y="1920240"/>
            <a:ext cx="3520440" cy="173736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993392"/>
            <a:ext cx="3246120" cy="274320"/>
          </a:xfrm>
          <a:prstGeom prst="rect">
            <a:avLst/>
          </a:prstGeom>
          <a:noFill/>
        </p:spPr>
        <p:txBody>
          <a:bodyPr wrap="square" lIns="36576" rIns="36576" tIns="18288" bIns="18288">
            <a:spAutoFit/>
          </a:bodyPr>
          <a:lstStyle/>
          <a:p>
            <a:pPr>
              <a:spcAft>
                <a:spcPts val="300"/>
              </a:spcAft>
            </a:pPr>
            <a:r>
              <a:rPr sz="1150" b="1">
                <a:solidFill>
                  <a:srgbClr val="1E3A8A"/>
                </a:solidFill>
                <a:latin typeface="Calibri"/>
              </a:rPr>
              <a:t>B. Coût de reproduction</a:t>
            </a:r>
          </a:p>
        </p:txBody>
      </p:sp>
      <p:sp>
        <p:nvSpPr>
          <p:cNvPr id="16" name="TextBox 15"/>
          <p:cNvSpPr txBox="1"/>
          <p:nvPr/>
        </p:nvSpPr>
        <p:spPr>
          <a:xfrm>
            <a:off x="4480560" y="2304288"/>
            <a:ext cx="3246120" cy="1280160"/>
          </a:xfrm>
          <a:prstGeom prst="rect">
            <a:avLst/>
          </a:prstGeom>
          <a:noFill/>
        </p:spPr>
        <p:txBody>
          <a:bodyPr wrap="square" lIns="36576" rIns="36576" tIns="18288" bIns="18288">
            <a:spAutoFit/>
          </a:bodyPr>
          <a:lstStyle/>
          <a:p>
            <a:pPr>
              <a:spcAft>
                <a:spcPts val="300"/>
              </a:spcAft>
            </a:pPr>
            <a:r>
              <a:rPr sz="1050" b="0">
                <a:solidFill>
                  <a:srgbClr val="0F172A"/>
                </a:solidFill>
                <a:latin typeface="Calibri"/>
              </a:rPr>
              <a:t>Coût de reconstitution aujourd'hui, à périmètre connu : les itérations et découvertes métier n'ont plus à être refaites. Approche de remplacement.</a:t>
            </a:r>
          </a:p>
        </p:txBody>
      </p:sp>
      <p:sp>
        <p:nvSpPr>
          <p:cNvPr id="17" name="Rounded Rectangle 16"/>
          <p:cNvSpPr/>
          <p:nvPr/>
        </p:nvSpPr>
        <p:spPr>
          <a:xfrm>
            <a:off x="8046719" y="1920240"/>
            <a:ext cx="3520440" cy="173736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993392"/>
            <a:ext cx="3246120" cy="274320"/>
          </a:xfrm>
          <a:prstGeom prst="rect">
            <a:avLst/>
          </a:prstGeom>
          <a:noFill/>
        </p:spPr>
        <p:txBody>
          <a:bodyPr wrap="square" lIns="36576" rIns="36576" tIns="18288" bIns="18288">
            <a:spAutoFit/>
          </a:bodyPr>
          <a:lstStyle/>
          <a:p>
            <a:pPr>
              <a:spcAft>
                <a:spcPts val="300"/>
              </a:spcAft>
            </a:pPr>
            <a:r>
              <a:rPr sz="1150" b="1">
                <a:solidFill>
                  <a:srgbClr val="1E3A8A"/>
                </a:solidFill>
                <a:latin typeface="Calibri"/>
              </a:rPr>
              <a:t>C. Valeur d'usage</a:t>
            </a:r>
          </a:p>
        </p:txBody>
      </p:sp>
      <p:sp>
        <p:nvSpPr>
          <p:cNvPr id="19" name="TextBox 18"/>
          <p:cNvSpPr txBox="1"/>
          <p:nvPr/>
        </p:nvSpPr>
        <p:spPr>
          <a:xfrm>
            <a:off x="8183879" y="2304288"/>
            <a:ext cx="3246120" cy="1280160"/>
          </a:xfrm>
          <a:prstGeom prst="rect">
            <a:avLst/>
          </a:prstGeom>
          <a:noFill/>
        </p:spPr>
        <p:txBody>
          <a:bodyPr wrap="square" lIns="36576" rIns="36576" tIns="18288" bIns="18288">
            <a:spAutoFit/>
          </a:bodyPr>
          <a:lstStyle/>
          <a:p>
            <a:pPr>
              <a:spcAft>
                <a:spcPts val="300"/>
              </a:spcAft>
            </a:pPr>
            <a:r>
              <a:rPr sz="1050" b="0">
                <a:solidFill>
                  <a:srgbClr val="0F172A"/>
                </a:solidFill>
                <a:latin typeface="Calibri"/>
              </a:rPr>
              <a:t>Valeur actuelle des revenus de TamCar sur 36 mois, flotte de départ du plan, actualisés à 20 %. Approche prospective.</a:t>
            </a:r>
          </a:p>
        </p:txBody>
      </p:sp>
      <p:graphicFrame>
        <p:nvGraphicFramePr>
          <p:cNvPr id="20" name="Table 19"/>
          <p:cNvGraphicFramePr>
            <a:graphicFrameLocks noGrp="1"/>
          </p:cNvGraphicFramePr>
          <p:nvPr/>
        </p:nvGraphicFramePr>
        <p:xfrm>
          <a:off x="640080" y="3931920"/>
          <a:ext cx="10908790" cy="1645920"/>
        </p:xfrm>
        <a:graphic>
          <a:graphicData uri="http://schemas.openxmlformats.org/drawingml/2006/table">
            <a:tbl>
              <a:tblPr firstRow="1" bandRow="1">
                <a:tableStyleId>{5C22544A-7EE6-4342-B048-85BDC9FD1C3A}</a:tableStyleId>
              </a:tblPr>
              <a:tblGrid>
                <a:gridCol w="3002419"/>
                <a:gridCol w="1601290"/>
                <a:gridCol w="6305081"/>
              </a:tblGrid>
              <a:tr h="411480">
                <a:tc>
                  <a:txBody>
                    <a:bodyPr wrap="square"/>
                    <a:lstStyle/>
                    <a:p>
                      <a:r>
                        <a:rPr sz="1050" b="1">
                          <a:solidFill>
                            <a:srgbClr val="FFFFFF"/>
                          </a:solidFill>
                          <a:latin typeface="Calibri"/>
                        </a:rPr>
                        <a:t>Méthode</a:t>
                      </a:r>
                    </a:p>
                  </a:txBody>
                  <a:tcPr marL="64008" marR="64008" marT="27432" marB="27432" anchor="ctr">
                    <a:solidFill>
                      <a:srgbClr val="1E3A8A"/>
                    </a:solidFill>
                  </a:tcPr>
                </a:tc>
                <a:tc>
                  <a:txBody>
                    <a:bodyPr wrap="square"/>
                    <a:lstStyle/>
                    <a:p>
                      <a:pPr algn="r"/>
                      <a:r>
                        <a:rPr sz="1050" b="1">
                          <a:solidFill>
                            <a:srgbClr val="FFFFFF"/>
                          </a:solidFill>
                          <a:latin typeface="Calibri"/>
                        </a:rPr>
                        <a:t>Valeur</a:t>
                      </a:r>
                    </a:p>
                  </a:txBody>
                  <a:tcPr marL="64008" marR="64008" marT="27432" marB="27432" anchor="ctr">
                    <a:solidFill>
                      <a:srgbClr val="1E3A8A"/>
                    </a:solidFill>
                  </a:tcPr>
                </a:tc>
                <a:tc>
                  <a:txBody>
                    <a:bodyPr wrap="square"/>
                    <a:lstStyle/>
                    <a:p>
                      <a:r>
                        <a:rPr sz="1050" b="1">
                          <a:solidFill>
                            <a:srgbClr val="FFFFFF"/>
                          </a:solidFill>
                          <a:latin typeface="Calibri"/>
                        </a:rPr>
                        <a:t>Fiabilité</a:t>
                      </a:r>
                    </a:p>
                  </a:txBody>
                  <a:tcPr marL="64008" marR="64008" marT="27432" marB="27432" anchor="ctr">
                    <a:solidFill>
                      <a:srgbClr val="1E3A8A"/>
                    </a:solidFill>
                  </a:tcPr>
                </a:tc>
              </a:tr>
              <a:tr h="411480">
                <a:tc>
                  <a:txBody>
                    <a:bodyPr wrap="square"/>
                    <a:lstStyle/>
                    <a:p>
                      <a:r>
                        <a:rPr sz="1050" b="0">
                          <a:solidFill>
                            <a:srgbClr val="0F172A"/>
                          </a:solidFill>
                          <a:latin typeface="Calibri"/>
                        </a:rPr>
                        <a:t>A · Coût historique</a:t>
                      </a:r>
                    </a:p>
                  </a:txBody>
                  <a:tcPr marL="64008" marR="64008" marT="27432" marB="27432" anchor="ctr">
                    <a:solidFill>
                      <a:srgbClr val="FFFFFF"/>
                    </a:solidFill>
                  </a:tcPr>
                </a:tc>
                <a:tc>
                  <a:txBody>
                    <a:bodyPr wrap="square"/>
                    <a:lstStyle/>
                    <a:p>
                      <a:pPr algn="r"/>
                      <a:r>
                        <a:rPr sz="1050" b="0">
                          <a:solidFill>
                            <a:srgbClr val="0F172A"/>
                          </a:solidFill>
                          <a:latin typeface="Calibri"/>
                        </a:rPr>
                        <a:t>50 000 000 F</a:t>
                      </a:r>
                    </a:p>
                  </a:txBody>
                  <a:tcPr marL="64008" marR="64008" marT="27432" marB="27432" anchor="ctr">
                    <a:solidFill>
                      <a:srgbClr val="FFFFFF"/>
                    </a:solidFill>
                  </a:tcPr>
                </a:tc>
                <a:tc>
                  <a:txBody>
                    <a:bodyPr wrap="square"/>
                    <a:lstStyle/>
                    <a:p>
                      <a:r>
                        <a:rPr sz="1050" b="0">
                          <a:solidFill>
                            <a:srgbClr val="0F172A"/>
                          </a:solidFill>
                          <a:latin typeface="Calibri"/>
                        </a:rPr>
                        <a:t>Moyenne — heures déclarées, à justifier par un relevé de temps</a:t>
                      </a:r>
                    </a:p>
                  </a:txBody>
                  <a:tcPr marL="64008" marR="64008" marT="27432" marB="27432" anchor="ctr">
                    <a:solidFill>
                      <a:srgbClr val="FFFFFF"/>
                    </a:solidFill>
                  </a:tcPr>
                </a:tc>
              </a:tr>
              <a:tr h="411480">
                <a:tc>
                  <a:txBody>
                    <a:bodyPr wrap="square"/>
                    <a:lstStyle/>
                    <a:p>
                      <a:r>
                        <a:rPr sz="1050" b="0">
                          <a:solidFill>
                            <a:srgbClr val="0F172A"/>
                          </a:solidFill>
                          <a:latin typeface="Calibri"/>
                        </a:rPr>
                        <a:t>B · Coût de reproduction</a:t>
                      </a:r>
                    </a:p>
                  </a:txBody>
                  <a:tcPr marL="64008" marR="64008" marT="27432" marB="27432" anchor="ctr">
                    <a:solidFill>
                      <a:srgbClr val="F8FAFC"/>
                    </a:solidFill>
                  </a:tcPr>
                </a:tc>
                <a:tc>
                  <a:txBody>
                    <a:bodyPr wrap="square"/>
                    <a:lstStyle/>
                    <a:p>
                      <a:pPr algn="r"/>
                      <a:r>
                        <a:rPr sz="1050" b="0">
                          <a:solidFill>
                            <a:srgbClr val="0F172A"/>
                          </a:solidFill>
                          <a:latin typeface="Calibri"/>
                        </a:rPr>
                        <a:t>20 000 000 F</a:t>
                      </a:r>
                    </a:p>
                  </a:txBody>
                  <a:tcPr marL="64008" marR="64008" marT="27432" marB="27432" anchor="ctr">
                    <a:solidFill>
                      <a:srgbClr val="F8FAFC"/>
                    </a:solidFill>
                  </a:tcPr>
                </a:tc>
                <a:tc>
                  <a:txBody>
                    <a:bodyPr wrap="square"/>
                    <a:lstStyle/>
                    <a:p>
                      <a:r>
                        <a:rPr sz="1050" b="0">
                          <a:solidFill>
                            <a:srgbClr val="0F172A"/>
                          </a:solidFill>
                          <a:latin typeface="Calibri"/>
                        </a:rPr>
                        <a:t>Haute — fondée sur un périmètre connu et mesuré</a:t>
                      </a:r>
                    </a:p>
                  </a:txBody>
                  <a:tcPr marL="64008" marR="64008" marT="27432" marB="27432" anchor="ctr">
                    <a:solidFill>
                      <a:srgbClr val="F8FAFC"/>
                    </a:solidFill>
                  </a:tcPr>
                </a:tc>
              </a:tr>
              <a:tr h="411480">
                <a:tc>
                  <a:txBody>
                    <a:bodyPr wrap="square"/>
                    <a:lstStyle/>
                    <a:p>
                      <a:r>
                        <a:rPr sz="1050" b="0">
                          <a:solidFill>
                            <a:srgbClr val="0F172A"/>
                          </a:solidFill>
                          <a:latin typeface="Calibri"/>
                        </a:rPr>
                        <a:t>C · Valeur d'usage</a:t>
                      </a:r>
                    </a:p>
                  </a:txBody>
                  <a:tcPr marL="64008" marR="64008" marT="27432" marB="27432" anchor="ctr">
                    <a:solidFill>
                      <a:srgbClr val="FFFFFF"/>
                    </a:solidFill>
                  </a:tcPr>
                </a:tc>
                <a:tc>
                  <a:txBody>
                    <a:bodyPr wrap="square"/>
                    <a:lstStyle/>
                    <a:p>
                      <a:pPr algn="r"/>
                      <a:r>
                        <a:rPr sz="1050" b="0">
                          <a:solidFill>
                            <a:srgbClr val="0F172A"/>
                          </a:solidFill>
                          <a:latin typeface="Calibri"/>
                        </a:rPr>
                        <a:t>25 500 000 F</a:t>
                      </a:r>
                    </a:p>
                  </a:txBody>
                  <a:tcPr marL="64008" marR="64008" marT="27432" marB="27432" anchor="ctr">
                    <a:solidFill>
                      <a:srgbClr val="FFFFFF"/>
                    </a:solidFill>
                  </a:tcPr>
                </a:tc>
                <a:tc>
                  <a:txBody>
                    <a:bodyPr wrap="square"/>
                    <a:lstStyle/>
                    <a:p>
                      <a:r>
                        <a:rPr sz="1050" b="0">
                          <a:solidFill>
                            <a:srgbClr val="0F172A"/>
                          </a:solidFill>
                          <a:latin typeface="Calibri"/>
                        </a:rPr>
                        <a:t>Moyenne — dépend des hypothèses du plan d'affaires</a:t>
                      </a:r>
                    </a:p>
                  </a:txBody>
                  <a:tcPr marL="64008" marR="64008"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04</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Méthode A — Coût historique</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Temps × tarif horaire senior local</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6 / 15</a:t>
            </a:r>
          </a:p>
        </p:txBody>
      </p:sp>
      <p:graphicFrame>
        <p:nvGraphicFramePr>
          <p:cNvPr id="10" name="Table 9"/>
          <p:cNvGraphicFramePr>
            <a:graphicFrameLocks noGrp="1"/>
          </p:cNvGraphicFramePr>
          <p:nvPr/>
        </p:nvGraphicFramePr>
        <p:xfrm>
          <a:off x="640080" y="1325880"/>
          <a:ext cx="6035038" cy="1828800"/>
        </p:xfrm>
        <a:graphic>
          <a:graphicData uri="http://schemas.openxmlformats.org/drawingml/2006/table">
            <a:tbl>
              <a:tblPr firstRow="1" bandRow="1">
                <a:tableStyleId>{5C22544A-7EE6-4342-B048-85BDC9FD1C3A}</a:tableStyleId>
              </a:tblPr>
              <a:tblGrid>
                <a:gridCol w="2828924"/>
                <a:gridCol w="3206114"/>
              </a:tblGrid>
              <a:tr h="365760">
                <a:tc>
                  <a:txBody>
                    <a:bodyPr wrap="square"/>
                    <a:lstStyle/>
                    <a:p>
                      <a:r>
                        <a:rPr sz="1000" b="1">
                          <a:solidFill>
                            <a:srgbClr val="FFFFFF"/>
                          </a:solidFill>
                          <a:latin typeface="Calibri"/>
                        </a:rPr>
                        <a:t>Élément</a:t>
                      </a:r>
                    </a:p>
                  </a:txBody>
                  <a:tcPr marL="64008" marR="64008" marT="27432" marB="27432" anchor="ctr">
                    <a:solidFill>
                      <a:srgbClr val="1E3A8A"/>
                    </a:solidFill>
                  </a:tcPr>
                </a:tc>
                <a:tc>
                  <a:txBody>
                    <a:bodyPr wrap="square"/>
                    <a:lstStyle/>
                    <a:p>
                      <a:r>
                        <a:rPr sz="1000" b="1">
                          <a:solidFill>
                            <a:srgbClr val="FFFFFF"/>
                          </a:solidFill>
                          <a:latin typeface="Calibri"/>
                        </a:rPr>
                        <a:t>Valeur</a:t>
                      </a:r>
                    </a:p>
                  </a:txBody>
                  <a:tcPr marL="64008" marR="64008" marT="27432" marB="27432" anchor="ctr">
                    <a:solidFill>
                      <a:srgbClr val="1E3A8A"/>
                    </a:solidFill>
                  </a:tcPr>
                </a:tc>
              </a:tr>
              <a:tr h="365760">
                <a:tc>
                  <a:txBody>
                    <a:bodyPr wrap="square"/>
                    <a:lstStyle/>
                    <a:p>
                      <a:r>
                        <a:rPr sz="1000" b="0">
                          <a:solidFill>
                            <a:srgbClr val="0F172A"/>
                          </a:solidFill>
                          <a:latin typeface="Calibri"/>
                        </a:rPr>
                        <a:t>Période de travail</a:t>
                      </a:r>
                    </a:p>
                  </a:txBody>
                  <a:tcPr marL="64008" marR="64008" marT="27432" marB="27432" anchor="ctr">
                    <a:solidFill>
                      <a:srgbClr val="FFFFFF"/>
                    </a:solidFill>
                  </a:tcPr>
                </a:tc>
                <a:tc>
                  <a:txBody>
                    <a:bodyPr wrap="square"/>
                    <a:lstStyle/>
                    <a:p>
                      <a:r>
                        <a:rPr sz="1000" b="0">
                          <a:solidFill>
                            <a:srgbClr val="0F172A"/>
                          </a:solidFill>
                          <a:latin typeface="Calibri"/>
                        </a:rPr>
                        <a:t>nov. 2025 → 20 oct. 2026 (≈ 11 mois)</a:t>
                      </a:r>
                    </a:p>
                  </a:txBody>
                  <a:tcPr marL="64008" marR="64008" marT="27432" marB="27432" anchor="ctr">
                    <a:solidFill>
                      <a:srgbClr val="FFFFFF"/>
                    </a:solidFill>
                  </a:tcPr>
                </a:tc>
              </a:tr>
              <a:tr h="365760">
                <a:tc>
                  <a:txBody>
                    <a:bodyPr wrap="square"/>
                    <a:lstStyle/>
                    <a:p>
                      <a:r>
                        <a:rPr sz="1000" b="0">
                          <a:solidFill>
                            <a:srgbClr val="0F172A"/>
                          </a:solidFill>
                          <a:latin typeface="Calibri"/>
                        </a:rPr>
                        <a:t>Volume de travail du fondateur</a:t>
                      </a:r>
                    </a:p>
                  </a:txBody>
                  <a:tcPr marL="64008" marR="64008" marT="27432" marB="27432" anchor="ctr">
                    <a:solidFill>
                      <a:srgbClr val="F8FAFC"/>
                    </a:solidFill>
                  </a:tcPr>
                </a:tc>
                <a:tc>
                  <a:txBody>
                    <a:bodyPr wrap="square"/>
                    <a:lstStyle/>
                    <a:p>
                      <a:r>
                        <a:rPr sz="1000" b="0">
                          <a:solidFill>
                            <a:srgbClr val="0F172A"/>
                          </a:solidFill>
                          <a:latin typeface="Calibri"/>
                        </a:rPr>
                        <a:t>≈ 2 000 heures (≈ 175 h par mois)</a:t>
                      </a:r>
                    </a:p>
                  </a:txBody>
                  <a:tcPr marL="64008" marR="64008" marT="27432" marB="27432" anchor="ctr">
                    <a:solidFill>
                      <a:srgbClr val="F8FAFC"/>
                    </a:solidFill>
                  </a:tcPr>
                </a:tc>
              </a:tr>
              <a:tr h="365760">
                <a:tc>
                  <a:txBody>
                    <a:bodyPr wrap="square"/>
                    <a:lstStyle/>
                    <a:p>
                      <a:r>
                        <a:rPr sz="1000" b="0">
                          <a:solidFill>
                            <a:srgbClr val="0F172A"/>
                          </a:solidFill>
                          <a:latin typeface="Calibri"/>
                        </a:rPr>
                        <a:t>Rémunération versée</a:t>
                      </a:r>
                    </a:p>
                  </a:txBody>
                  <a:tcPr marL="64008" marR="64008" marT="27432" marB="27432" anchor="ctr">
                    <a:solidFill>
                      <a:srgbClr val="FFFFFF"/>
                    </a:solidFill>
                  </a:tcPr>
                </a:tc>
                <a:tc>
                  <a:txBody>
                    <a:bodyPr wrap="square"/>
                    <a:lstStyle/>
                    <a:p>
                      <a:r>
                        <a:rPr sz="1000" b="0">
                          <a:solidFill>
                            <a:srgbClr val="0F172A"/>
                          </a:solidFill>
                          <a:latin typeface="Calibri"/>
                        </a:rPr>
                        <a:t>aucune : heures non payées</a:t>
                      </a:r>
                    </a:p>
                  </a:txBody>
                  <a:tcPr marL="64008" marR="64008" marT="27432" marB="27432" anchor="ctr">
                    <a:solidFill>
                      <a:srgbClr val="FFFFFF"/>
                    </a:solidFill>
                  </a:tcPr>
                </a:tc>
              </a:tr>
              <a:tr h="365760">
                <a:tc>
                  <a:txBody>
                    <a:bodyPr wrap="square"/>
                    <a:lstStyle/>
                    <a:p>
                      <a:r>
                        <a:rPr sz="1000" b="0">
                          <a:solidFill>
                            <a:srgbClr val="0F172A"/>
                          </a:solidFill>
                          <a:latin typeface="Calibri"/>
                        </a:rPr>
                        <a:t>Dépenses en numéraire engagées</a:t>
                      </a:r>
                    </a:p>
                  </a:txBody>
                  <a:tcPr marL="64008" marR="64008" marT="27432" marB="27432" anchor="ctr">
                    <a:solidFill>
                      <a:srgbClr val="F8FAFC"/>
                    </a:solidFill>
                  </a:tcPr>
                </a:tc>
                <a:tc>
                  <a:txBody>
                    <a:bodyPr wrap="square"/>
                    <a:lstStyle/>
                    <a:p>
                      <a:r>
                        <a:rPr sz="1000" b="0">
                          <a:solidFill>
                            <a:srgbClr val="0F172A"/>
                          </a:solidFill>
                          <a:latin typeface="Calibri"/>
                        </a:rPr>
                        <a:t>4 000 000 F</a:t>
                      </a:r>
                    </a:p>
                  </a:txBody>
                  <a:tcPr marL="64008" marR="64008" marT="27432" marB="27432" anchor="ctr">
                    <a:solidFill>
                      <a:srgbClr val="F8FAFC"/>
                    </a:solidFill>
                  </a:tcPr>
                </a:tc>
              </a:tr>
            </a:tbl>
          </a:graphicData>
        </a:graphic>
      </p:graphicFrame>
      <p:sp>
        <p:nvSpPr>
          <p:cNvPr id="11" name="Rounded Rectangle 10"/>
          <p:cNvSpPr/>
          <p:nvPr/>
        </p:nvSpPr>
        <p:spPr>
          <a:xfrm>
            <a:off x="640080" y="3337560"/>
            <a:ext cx="6035040" cy="160020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410712"/>
            <a:ext cx="5760720" cy="274320"/>
          </a:xfrm>
          <a:prstGeom prst="rect">
            <a:avLst/>
          </a:prstGeom>
          <a:noFill/>
        </p:spPr>
        <p:txBody>
          <a:bodyPr wrap="square" lIns="36576" rIns="36576" tIns="18288" bIns="18288">
            <a:spAutoFit/>
          </a:bodyPr>
          <a:lstStyle/>
          <a:p>
            <a:pPr>
              <a:spcAft>
                <a:spcPts val="300"/>
              </a:spcAft>
            </a:pPr>
            <a:r>
              <a:rPr sz="1100" b="1">
                <a:solidFill>
                  <a:srgbClr val="1E3A8A"/>
                </a:solidFill>
                <a:latin typeface="Calibri"/>
              </a:rPr>
              <a:t>Justification des heures</a:t>
            </a:r>
          </a:p>
        </p:txBody>
      </p:sp>
      <p:sp>
        <p:nvSpPr>
          <p:cNvPr id="13" name="TextBox 12"/>
          <p:cNvSpPr txBox="1"/>
          <p:nvPr/>
        </p:nvSpPr>
        <p:spPr>
          <a:xfrm>
            <a:off x="777240" y="3721608"/>
            <a:ext cx="5760720" cy="1143000"/>
          </a:xfrm>
          <a:prstGeom prst="rect">
            <a:avLst/>
          </a:prstGeom>
          <a:noFill/>
        </p:spPr>
        <p:txBody>
          <a:bodyPr wrap="square" lIns="36576" rIns="36576" tIns="18288" bIns="18288">
            <a:spAutoFit/>
          </a:bodyPr>
          <a:lstStyle/>
          <a:p>
            <a:pPr>
              <a:spcAft>
                <a:spcPts val="300"/>
              </a:spcAft>
            </a:pPr>
            <a:r>
              <a:rPr sz="1000" b="0">
                <a:solidFill>
                  <a:srgbClr val="0F172A"/>
                </a:solidFill>
                <a:latin typeface="Calibri"/>
              </a:rPr>
              <a:t>Le dépôt Git privé commence le 13 juillet 2026 : il atteste juillet-octobre 2026. Les travaux de novembre 2025 à juillet 2026 sont justifiés par des pièces datées. Un relevé de temps ventilé par domaine sera établi et remis (pièce 3).</a:t>
            </a:r>
          </a:p>
        </p:txBody>
      </p:sp>
      <p:graphicFrame>
        <p:nvGraphicFramePr>
          <p:cNvPr id="14" name="Table 13"/>
          <p:cNvGraphicFramePr>
            <a:graphicFrameLocks noGrp="1"/>
          </p:cNvGraphicFramePr>
          <p:nvPr/>
        </p:nvGraphicFramePr>
        <p:xfrm>
          <a:off x="6949440" y="1325880"/>
          <a:ext cx="4599431" cy="1828800"/>
        </p:xfrm>
        <a:graphic>
          <a:graphicData uri="http://schemas.openxmlformats.org/drawingml/2006/table">
            <a:tbl>
              <a:tblPr firstRow="1" bandRow="1">
                <a:tableStyleId>{5C22544A-7EE6-4342-B048-85BDC9FD1C3A}</a:tableStyleId>
              </a:tblPr>
              <a:tblGrid>
                <a:gridCol w="2759659"/>
                <a:gridCol w="1839772"/>
              </a:tblGrid>
              <a:tr h="365760">
                <a:tc>
                  <a:txBody>
                    <a:bodyPr wrap="square"/>
                    <a:lstStyle/>
                    <a:p>
                      <a:r>
                        <a:rPr sz="1000" b="1">
                          <a:solidFill>
                            <a:srgbClr val="FFFFFF"/>
                          </a:solidFill>
                          <a:latin typeface="Calibri"/>
                        </a:rPr>
                        <a:t>Niveau d'expertise</a:t>
                      </a:r>
                    </a:p>
                  </a:txBody>
                  <a:tcPr marL="64008" marR="64008" marT="27432" marB="27432" anchor="ctr">
                    <a:solidFill>
                      <a:srgbClr val="1E3A8A"/>
                    </a:solidFill>
                  </a:tcPr>
                </a:tc>
                <a:tc>
                  <a:txBody>
                    <a:bodyPr wrap="square"/>
                    <a:lstStyle/>
                    <a:p>
                      <a:pPr algn="r"/>
                      <a:r>
                        <a:rPr sz="1000" b="1">
                          <a:solidFill>
                            <a:srgbClr val="FFFFFF"/>
                          </a:solidFill>
                          <a:latin typeface="Calibri"/>
                        </a:rPr>
                        <a:t>Tarif (FCFA/h)</a:t>
                      </a:r>
                    </a:p>
                  </a:txBody>
                  <a:tcPr marL="64008" marR="64008" marT="27432" marB="27432" anchor="ctr">
                    <a:solidFill>
                      <a:srgbClr val="1E3A8A"/>
                    </a:solidFill>
                  </a:tcPr>
                </a:tc>
              </a:tr>
              <a:tr h="365760">
                <a:tc>
                  <a:txBody>
                    <a:bodyPr wrap="square"/>
                    <a:lstStyle/>
                    <a:p>
                      <a:r>
                        <a:rPr sz="1000" b="0">
                          <a:solidFill>
                            <a:srgbClr val="0F172A"/>
                          </a:solidFill>
                          <a:latin typeface="Calibri"/>
                        </a:rPr>
                        <a:t>Junior (0-2 ans)</a:t>
                      </a:r>
                    </a:p>
                  </a:txBody>
                  <a:tcPr marL="64008" marR="64008" marT="27432" marB="27432" anchor="ctr">
                    <a:solidFill>
                      <a:srgbClr val="FFFFFF"/>
                    </a:solidFill>
                  </a:tcPr>
                </a:tc>
                <a:tc>
                  <a:txBody>
                    <a:bodyPr wrap="square"/>
                    <a:lstStyle/>
                    <a:p>
                      <a:pPr algn="r"/>
                      <a:r>
                        <a:rPr sz="1000" b="0">
                          <a:solidFill>
                            <a:srgbClr val="0F172A"/>
                          </a:solidFill>
                          <a:latin typeface="Calibri"/>
                        </a:rPr>
                        <a:t>8 000 - 12 000</a:t>
                      </a:r>
                    </a:p>
                  </a:txBody>
                  <a:tcPr marL="64008" marR="64008" marT="27432" marB="27432" anchor="ctr">
                    <a:solidFill>
                      <a:srgbClr val="FFFFFF"/>
                    </a:solidFill>
                  </a:tcPr>
                </a:tc>
              </a:tr>
              <a:tr h="365760">
                <a:tc>
                  <a:txBody>
                    <a:bodyPr wrap="square"/>
                    <a:lstStyle/>
                    <a:p>
                      <a:r>
                        <a:rPr sz="1000" b="0">
                          <a:solidFill>
                            <a:srgbClr val="0F172A"/>
                          </a:solidFill>
                          <a:latin typeface="Calibri"/>
                        </a:rPr>
                        <a:t>Confirmé (2-5 ans)</a:t>
                      </a:r>
                    </a:p>
                  </a:txBody>
                  <a:tcPr marL="64008" marR="64008" marT="27432" marB="27432" anchor="ctr">
                    <a:solidFill>
                      <a:srgbClr val="F8FAFC"/>
                    </a:solidFill>
                  </a:tcPr>
                </a:tc>
                <a:tc>
                  <a:txBody>
                    <a:bodyPr wrap="square"/>
                    <a:lstStyle/>
                    <a:p>
                      <a:pPr algn="r"/>
                      <a:r>
                        <a:rPr sz="1000" b="0">
                          <a:solidFill>
                            <a:srgbClr val="0F172A"/>
                          </a:solidFill>
                          <a:latin typeface="Calibri"/>
                        </a:rPr>
                        <a:t>15 000 - 20 000</a:t>
                      </a:r>
                    </a:p>
                  </a:txBody>
                  <a:tcPr marL="64008" marR="64008" marT="27432" marB="27432" anchor="ctr">
                    <a:solidFill>
                      <a:srgbClr val="F8FAFC"/>
                    </a:solidFill>
                  </a:tcPr>
                </a:tc>
              </a:tr>
              <a:tr h="365760">
                <a:tc>
                  <a:txBody>
                    <a:bodyPr wrap="square"/>
                    <a:lstStyle/>
                    <a:p>
                      <a:r>
                        <a:rPr sz="1000" b="1">
                          <a:solidFill>
                            <a:srgbClr val="0F172A"/>
                          </a:solidFill>
                          <a:latin typeface="Calibri"/>
                        </a:rPr>
                        <a:t>Senior full-stack (5-10 ans)</a:t>
                      </a:r>
                    </a:p>
                  </a:txBody>
                  <a:tcPr marL="64008" marR="64008" marT="27432" marB="27432" anchor="ctr">
                    <a:solidFill>
                      <a:srgbClr val="DBEAFE"/>
                    </a:solidFill>
                  </a:tcPr>
                </a:tc>
                <a:tc>
                  <a:txBody>
                    <a:bodyPr wrap="square"/>
                    <a:lstStyle/>
                    <a:p>
                      <a:pPr algn="r"/>
                      <a:r>
                        <a:rPr sz="1000" b="1">
                          <a:solidFill>
                            <a:srgbClr val="0F172A"/>
                          </a:solidFill>
                          <a:latin typeface="Calibri"/>
                        </a:rPr>
                        <a:t>20 000 - 30 000</a:t>
                      </a:r>
                    </a:p>
                  </a:txBody>
                  <a:tcPr marL="64008" marR="64008" marT="27432" marB="27432" anchor="ctr">
                    <a:solidFill>
                      <a:srgbClr val="DBEAFE"/>
                    </a:solidFill>
                  </a:tcPr>
                </a:tc>
              </a:tr>
              <a:tr h="365760">
                <a:tc>
                  <a:txBody>
                    <a:bodyPr wrap="square"/>
                    <a:lstStyle/>
                    <a:p>
                      <a:r>
                        <a:rPr sz="1000" b="0">
                          <a:solidFill>
                            <a:srgbClr val="0F172A"/>
                          </a:solidFill>
                          <a:latin typeface="Calibri"/>
                        </a:rPr>
                        <a:t>Expert / Lead (10+ ans)</a:t>
                      </a:r>
                    </a:p>
                  </a:txBody>
                  <a:tcPr marL="64008" marR="64008" marT="27432" marB="27432" anchor="ctr">
                    <a:solidFill>
                      <a:srgbClr val="F8FAFC"/>
                    </a:solidFill>
                  </a:tcPr>
                </a:tc>
                <a:tc>
                  <a:txBody>
                    <a:bodyPr wrap="square"/>
                    <a:lstStyle/>
                    <a:p>
                      <a:pPr algn="r"/>
                      <a:r>
                        <a:rPr sz="1000" b="0">
                          <a:solidFill>
                            <a:srgbClr val="0F172A"/>
                          </a:solidFill>
                          <a:latin typeface="Calibri"/>
                        </a:rPr>
                        <a:t>35 000 - 50 000</a:t>
                      </a:r>
                    </a:p>
                  </a:txBody>
                  <a:tcPr marL="64008" marR="64008" marT="27432" marB="27432" anchor="ctr">
                    <a:solidFill>
                      <a:srgbClr val="F8FAFC"/>
                    </a:solidFill>
                  </a:tcPr>
                </a:tc>
              </a:tr>
            </a:tbl>
          </a:graphicData>
        </a:graphic>
      </p:graphicFrame>
      <p:sp>
        <p:nvSpPr>
          <p:cNvPr id="15" name="TextBox 14"/>
          <p:cNvSpPr txBox="1"/>
          <p:nvPr/>
        </p:nvSpPr>
        <p:spPr>
          <a:xfrm>
            <a:off x="6949440" y="3200400"/>
            <a:ext cx="4599432" cy="640080"/>
          </a:xfrm>
          <a:prstGeom prst="rect">
            <a:avLst/>
          </a:prstGeom>
          <a:noFill/>
        </p:spPr>
        <p:txBody>
          <a:bodyPr wrap="square" lIns="36576" rIns="36576" tIns="18288" bIns="18288">
            <a:spAutoFit/>
          </a:bodyPr>
          <a:lstStyle/>
          <a:p>
            <a:pPr>
              <a:spcAft>
                <a:spcPts val="300"/>
              </a:spcAft>
            </a:pPr>
            <a:r>
              <a:rPr sz="900" b="0">
                <a:solidFill>
                  <a:srgbClr val="64748B"/>
                </a:solidFill>
                <a:latin typeface="Calibri"/>
              </a:rPr>
              <a:t>Consultations d'agences Cotonou / Lomé et missions freelance 2024-2026. Tarif retenu : 25 000 F, milieu de la fourchette senior.</a:t>
            </a:r>
          </a:p>
        </p:txBody>
      </p:sp>
      <p:sp>
        <p:nvSpPr>
          <p:cNvPr id="16" name="Rounded Rectangle 15"/>
          <p:cNvSpPr/>
          <p:nvPr/>
        </p:nvSpPr>
        <p:spPr>
          <a:xfrm>
            <a:off x="6949440" y="3977639"/>
            <a:ext cx="4599432" cy="15544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78040" y="4087368"/>
            <a:ext cx="4142232" cy="274320"/>
          </a:xfrm>
          <a:prstGeom prst="rect">
            <a:avLst/>
          </a:prstGeom>
          <a:noFill/>
        </p:spPr>
        <p:txBody>
          <a:bodyPr wrap="square" lIns="36576" rIns="36576" tIns="18288" bIns="18288">
            <a:spAutoFit/>
          </a:bodyPr>
          <a:lstStyle/>
          <a:p>
            <a:pPr>
              <a:spcAft>
                <a:spcPts val="300"/>
              </a:spcAft>
            </a:pPr>
            <a:r>
              <a:rPr sz="1100" b="1">
                <a:solidFill>
                  <a:srgbClr val="C7D2FE"/>
                </a:solidFill>
                <a:latin typeface="Calibri"/>
              </a:rPr>
              <a:t>Résultat Méthode A</a:t>
            </a:r>
          </a:p>
        </p:txBody>
      </p:sp>
      <p:sp>
        <p:nvSpPr>
          <p:cNvPr id="18" name="TextBox 17"/>
          <p:cNvSpPr txBox="1"/>
          <p:nvPr/>
        </p:nvSpPr>
        <p:spPr>
          <a:xfrm>
            <a:off x="7178040" y="4361688"/>
            <a:ext cx="4142232" cy="640080"/>
          </a:xfrm>
          <a:prstGeom prst="rect">
            <a:avLst/>
          </a:prstGeom>
          <a:noFill/>
        </p:spPr>
        <p:txBody>
          <a:bodyPr wrap="square" lIns="36576" rIns="36576" tIns="18288" bIns="18288">
            <a:spAutoFit/>
          </a:bodyPr>
          <a:lstStyle/>
          <a:p>
            <a:pPr>
              <a:spcAft>
                <a:spcPts val="300"/>
              </a:spcAft>
            </a:pPr>
            <a:r>
              <a:rPr sz="3000" b="1">
                <a:solidFill>
                  <a:srgbClr val="EAB308"/>
                </a:solidFill>
                <a:latin typeface="Calibri"/>
              </a:rPr>
              <a:t>50 000 000 FCFA</a:t>
            </a:r>
          </a:p>
        </p:txBody>
      </p:sp>
      <p:sp>
        <p:nvSpPr>
          <p:cNvPr id="19" name="TextBox 18"/>
          <p:cNvSpPr txBox="1"/>
          <p:nvPr/>
        </p:nvSpPr>
        <p:spPr>
          <a:xfrm>
            <a:off x="7178040" y="5001768"/>
            <a:ext cx="4142232" cy="502920"/>
          </a:xfrm>
          <a:prstGeom prst="rect">
            <a:avLst/>
          </a:prstGeom>
          <a:noFill/>
        </p:spPr>
        <p:txBody>
          <a:bodyPr wrap="square" lIns="36576" rIns="36576" tIns="18288" bIns="18288">
            <a:spAutoFit/>
          </a:bodyPr>
          <a:lstStyle/>
          <a:p>
            <a:pPr>
              <a:spcAft>
                <a:spcPts val="300"/>
              </a:spcAft>
            </a:pPr>
            <a:r>
              <a:rPr sz="1000" b="0">
                <a:solidFill>
                  <a:srgbClr val="FFFFFF"/>
                </a:solidFill>
                <a:latin typeface="Calibri"/>
              </a:rPr>
              <a:t>2 000 heures × 25 000 FCFA/heure : coût du travail du fondateur au tarif médian senior local.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05</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Méthode B — Coût de reproduction</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Reconstruire à périmètre connu</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7 / 15</a:t>
            </a:r>
          </a:p>
        </p:txBody>
      </p:sp>
      <p:graphicFrame>
        <p:nvGraphicFramePr>
          <p:cNvPr id="10" name="Table 9"/>
          <p:cNvGraphicFramePr>
            <a:graphicFrameLocks noGrp="1"/>
          </p:cNvGraphicFramePr>
          <p:nvPr/>
        </p:nvGraphicFramePr>
        <p:xfrm>
          <a:off x="640080" y="1325880"/>
          <a:ext cx="6035038" cy="2468880"/>
        </p:xfrm>
        <a:graphic>
          <a:graphicData uri="http://schemas.openxmlformats.org/drawingml/2006/table">
            <a:tbl>
              <a:tblPr firstRow="1" bandRow="1">
                <a:tableStyleId>{5C22544A-7EE6-4342-B048-85BDC9FD1C3A}</a:tableStyleId>
              </a:tblPr>
              <a:tblGrid>
                <a:gridCol w="3771899"/>
                <a:gridCol w="2263139"/>
              </a:tblGrid>
              <a:tr h="411480">
                <a:tc>
                  <a:txBody>
                    <a:bodyPr wrap="square"/>
                    <a:lstStyle/>
                    <a:p>
                      <a:r>
                        <a:rPr sz="1050" b="1">
                          <a:solidFill>
                            <a:srgbClr val="FFFFFF"/>
                          </a:solidFill>
                          <a:latin typeface="Calibri"/>
                        </a:rPr>
                        <a:t>Poste</a:t>
                      </a:r>
                    </a:p>
                  </a:txBody>
                  <a:tcPr marL="64008" marR="64008" marT="27432" marB="27432" anchor="ctr">
                    <a:solidFill>
                      <a:srgbClr val="1E3A8A"/>
                    </a:solidFill>
                  </a:tcPr>
                </a:tc>
                <a:tc>
                  <a:txBody>
                    <a:bodyPr wrap="square"/>
                    <a:lstStyle/>
                    <a:p>
                      <a:pPr algn="r"/>
                      <a:r>
                        <a:rPr sz="1050" b="1">
                          <a:solidFill>
                            <a:srgbClr val="FFFFFF"/>
                          </a:solidFill>
                          <a:latin typeface="Calibri"/>
                        </a:rPr>
                        <a:t>Valeur</a:t>
                      </a:r>
                    </a:p>
                  </a:txBody>
                  <a:tcPr marL="64008" marR="64008" marT="27432" marB="27432" anchor="ctr">
                    <a:solidFill>
                      <a:srgbClr val="1E3A8A"/>
                    </a:solidFill>
                  </a:tcPr>
                </a:tc>
              </a:tr>
              <a:tr h="411480">
                <a:tc>
                  <a:txBody>
                    <a:bodyPr wrap="square"/>
                    <a:lstStyle/>
                    <a:p>
                      <a:r>
                        <a:rPr sz="1050" b="0">
                          <a:solidFill>
                            <a:srgbClr val="0F172A"/>
                          </a:solidFill>
                          <a:latin typeface="Calibri"/>
                        </a:rPr>
                        <a:t>Temps historique (méthode A)</a:t>
                      </a:r>
                    </a:p>
                  </a:txBody>
                  <a:tcPr marL="64008" marR="64008" marT="27432" marB="27432" anchor="ctr">
                    <a:solidFill>
                      <a:srgbClr val="FFFFFF"/>
                    </a:solidFill>
                  </a:tcPr>
                </a:tc>
                <a:tc>
                  <a:txBody>
                    <a:bodyPr wrap="square"/>
                    <a:lstStyle/>
                    <a:p>
                      <a:pPr algn="r"/>
                      <a:r>
                        <a:rPr sz="1050" b="0">
                          <a:solidFill>
                            <a:srgbClr val="0F172A"/>
                          </a:solidFill>
                          <a:latin typeface="Calibri"/>
                        </a:rPr>
                        <a:t>2 000 heures</a:t>
                      </a:r>
                    </a:p>
                  </a:txBody>
                  <a:tcPr marL="64008" marR="64008" marT="27432" marB="27432" anchor="ctr">
                    <a:solidFill>
                      <a:srgbClr val="FFFFFF"/>
                    </a:solidFill>
                  </a:tcPr>
                </a:tc>
              </a:tr>
              <a:tr h="411480">
                <a:tc>
                  <a:txBody>
                    <a:bodyPr wrap="square"/>
                    <a:lstStyle/>
                    <a:p>
                      <a:r>
                        <a:rPr sz="1050" b="0">
                          <a:solidFill>
                            <a:srgbClr val="0F172A"/>
                          </a:solidFill>
                          <a:latin typeface="Calibri"/>
                        </a:rPr>
                        <a:t>Part nécessaire pour reconstruire à périmètre connu</a:t>
                      </a:r>
                    </a:p>
                  </a:txBody>
                  <a:tcPr marL="64008" marR="64008" marT="27432" marB="27432" anchor="ctr">
                    <a:solidFill>
                      <a:srgbClr val="F8FAFC"/>
                    </a:solidFill>
                  </a:tcPr>
                </a:tc>
                <a:tc>
                  <a:txBody>
                    <a:bodyPr wrap="square"/>
                    <a:lstStyle/>
                    <a:p>
                      <a:pPr algn="r"/>
                      <a:r>
                        <a:rPr sz="1050" b="0">
                          <a:solidFill>
                            <a:srgbClr val="0F172A"/>
                          </a:solidFill>
                          <a:latin typeface="Calibri"/>
                        </a:rPr>
                        <a:t>40 %</a:t>
                      </a:r>
                    </a:p>
                  </a:txBody>
                  <a:tcPr marL="64008" marR="64008" marT="27432" marB="27432" anchor="ctr">
                    <a:solidFill>
                      <a:srgbClr val="F8FAFC"/>
                    </a:solidFill>
                  </a:tcPr>
                </a:tc>
              </a:tr>
              <a:tr h="411480">
                <a:tc>
                  <a:txBody>
                    <a:bodyPr wrap="square"/>
                    <a:lstStyle/>
                    <a:p>
                      <a:r>
                        <a:rPr sz="1050" b="0">
                          <a:solidFill>
                            <a:srgbClr val="0F172A"/>
                          </a:solidFill>
                          <a:latin typeface="Calibri"/>
                        </a:rPr>
                        <a:t>Heures de reconstruction</a:t>
                      </a:r>
                    </a:p>
                  </a:txBody>
                  <a:tcPr marL="64008" marR="64008" marT="27432" marB="27432" anchor="ctr">
                    <a:solidFill>
                      <a:srgbClr val="FFFFFF"/>
                    </a:solidFill>
                  </a:tcPr>
                </a:tc>
                <a:tc>
                  <a:txBody>
                    <a:bodyPr wrap="square"/>
                    <a:lstStyle/>
                    <a:p>
                      <a:pPr algn="r"/>
                      <a:r>
                        <a:rPr sz="1050" b="0">
                          <a:solidFill>
                            <a:srgbClr val="0F172A"/>
                          </a:solidFill>
                          <a:latin typeface="Calibri"/>
                        </a:rPr>
                        <a:t>800 heures</a:t>
                      </a:r>
                    </a:p>
                  </a:txBody>
                  <a:tcPr marL="64008" marR="64008" marT="27432" marB="27432" anchor="ctr">
                    <a:solidFill>
                      <a:srgbClr val="FFFFFF"/>
                    </a:solidFill>
                  </a:tcPr>
                </a:tc>
              </a:tr>
              <a:tr h="411480">
                <a:tc>
                  <a:txBody>
                    <a:bodyPr wrap="square"/>
                    <a:lstStyle/>
                    <a:p>
                      <a:r>
                        <a:rPr sz="1050" b="0">
                          <a:solidFill>
                            <a:srgbClr val="0F172A"/>
                          </a:solidFill>
                          <a:latin typeface="Calibri"/>
                        </a:rPr>
                        <a:t>Tarif horaire senior local</a:t>
                      </a:r>
                    </a:p>
                  </a:txBody>
                  <a:tcPr marL="64008" marR="64008" marT="27432" marB="27432" anchor="ctr">
                    <a:solidFill>
                      <a:srgbClr val="F8FAFC"/>
                    </a:solidFill>
                  </a:tcPr>
                </a:tc>
                <a:tc>
                  <a:txBody>
                    <a:bodyPr wrap="square"/>
                    <a:lstStyle/>
                    <a:p>
                      <a:pPr algn="r"/>
                      <a:r>
                        <a:rPr sz="1050" b="0">
                          <a:solidFill>
                            <a:srgbClr val="0F172A"/>
                          </a:solidFill>
                          <a:latin typeface="Calibri"/>
                        </a:rPr>
                        <a:t>25 000 F</a:t>
                      </a:r>
                    </a:p>
                  </a:txBody>
                  <a:tcPr marL="64008" marR="64008" marT="27432" marB="27432" anchor="ctr">
                    <a:solidFill>
                      <a:srgbClr val="F8FAFC"/>
                    </a:solidFill>
                  </a:tcPr>
                </a:tc>
              </a:tr>
              <a:tr h="411480">
                <a:tc>
                  <a:txBody>
                    <a:bodyPr wrap="square"/>
                    <a:lstStyle/>
                    <a:p>
                      <a:r>
                        <a:rPr sz="1050" b="1">
                          <a:solidFill>
                            <a:srgbClr val="0F172A"/>
                          </a:solidFill>
                          <a:latin typeface="Calibri"/>
                        </a:rPr>
                        <a:t>Coût de reproduction</a:t>
                      </a:r>
                    </a:p>
                  </a:txBody>
                  <a:tcPr marL="64008" marR="64008" marT="27432" marB="27432" anchor="ctr">
                    <a:solidFill>
                      <a:srgbClr val="DBEAFE"/>
                    </a:solidFill>
                  </a:tcPr>
                </a:tc>
                <a:tc>
                  <a:txBody>
                    <a:bodyPr wrap="square"/>
                    <a:lstStyle/>
                    <a:p>
                      <a:pPr algn="r"/>
                      <a:r>
                        <a:rPr sz="1050" b="1">
                          <a:solidFill>
                            <a:srgbClr val="0F172A"/>
                          </a:solidFill>
                          <a:latin typeface="Calibri"/>
                        </a:rPr>
                        <a:t>20 000 000 F</a:t>
                      </a:r>
                    </a:p>
                  </a:txBody>
                  <a:tcPr marL="64008" marR="64008" marT="27432" marB="27432" anchor="ctr">
                    <a:solidFill>
                      <a:srgbClr val="DBEAFE"/>
                    </a:solidFill>
                  </a:tcPr>
                </a:tc>
              </a:tr>
            </a:tbl>
          </a:graphicData>
        </a:graphic>
      </p:graphicFrame>
      <p:sp>
        <p:nvSpPr>
          <p:cNvPr id="11" name="Rectangle 10"/>
          <p:cNvSpPr/>
          <p:nvPr/>
        </p:nvSpPr>
        <p:spPr>
          <a:xfrm>
            <a:off x="640080" y="410565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4023360"/>
            <a:ext cx="5852159"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Heures de développement seulement — </a:t>
            </a:r>
            <a:r>
              <a:rPr sz="1050" b="0">
                <a:solidFill>
                  <a:srgbClr val="0F172A"/>
                </a:solidFill>
                <a:latin typeface="Calibri"/>
              </a:rPr>
              <a:t>aucun poste de coordination, de design ou de marge d'agence.</a:t>
            </a:r>
          </a:p>
        </p:txBody>
      </p:sp>
      <p:sp>
        <p:nvSpPr>
          <p:cNvPr id="13" name="Rectangle 12"/>
          <p:cNvSpPr/>
          <p:nvPr/>
        </p:nvSpPr>
        <p:spPr>
          <a:xfrm>
            <a:off x="640080" y="4672584"/>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4590288"/>
            <a:ext cx="5852159"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Périmètre arrêté — </a:t>
            </a:r>
            <a:r>
              <a:rPr sz="1050" b="0">
                <a:solidFill>
                  <a:srgbClr val="0F172A"/>
                </a:solidFill>
                <a:latin typeface="Calibri"/>
              </a:rPr>
              <a:t>liste fermée de l'annexe 1 au 20 octobre 2026.</a:t>
            </a:r>
          </a:p>
        </p:txBody>
      </p:sp>
      <p:sp>
        <p:nvSpPr>
          <p:cNvPr id="15" name="Rectangle 14"/>
          <p:cNvSpPr/>
          <p:nvPr/>
        </p:nvSpPr>
        <p:spPr>
          <a:xfrm>
            <a:off x="640080" y="5239512"/>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5157216"/>
            <a:ext cx="5852159" cy="54864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Devis d'agence régionale — </a:t>
            </a:r>
            <a:r>
              <a:rPr sz="1050" b="0">
                <a:solidFill>
                  <a:srgbClr val="0F172A"/>
                </a:solidFill>
                <a:latin typeface="Calibri"/>
              </a:rPr>
              <a:t>remis au Commissaire pour contrôle.</a:t>
            </a:r>
          </a:p>
        </p:txBody>
      </p:sp>
      <p:sp>
        <p:nvSpPr>
          <p:cNvPr id="17" name="Rounded Rectangle 16"/>
          <p:cNvSpPr/>
          <p:nvPr/>
        </p:nvSpPr>
        <p:spPr>
          <a:xfrm>
            <a:off x="6949440" y="1325880"/>
            <a:ext cx="4599432" cy="182880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78040" y="1435607"/>
            <a:ext cx="4142232" cy="274320"/>
          </a:xfrm>
          <a:prstGeom prst="rect">
            <a:avLst/>
          </a:prstGeom>
          <a:noFill/>
        </p:spPr>
        <p:txBody>
          <a:bodyPr wrap="square" lIns="36576" rIns="36576" tIns="18288" bIns="18288">
            <a:spAutoFit/>
          </a:bodyPr>
          <a:lstStyle/>
          <a:p>
            <a:pPr>
              <a:spcAft>
                <a:spcPts val="300"/>
              </a:spcAft>
            </a:pPr>
            <a:r>
              <a:rPr sz="1100" b="1">
                <a:solidFill>
                  <a:srgbClr val="C7D2FE"/>
                </a:solidFill>
                <a:latin typeface="Calibri"/>
              </a:rPr>
              <a:t>Résultat Méthode B</a:t>
            </a:r>
          </a:p>
        </p:txBody>
      </p:sp>
      <p:sp>
        <p:nvSpPr>
          <p:cNvPr id="19" name="TextBox 18"/>
          <p:cNvSpPr txBox="1"/>
          <p:nvPr/>
        </p:nvSpPr>
        <p:spPr>
          <a:xfrm>
            <a:off x="7178040" y="1709928"/>
            <a:ext cx="4142232" cy="640080"/>
          </a:xfrm>
          <a:prstGeom prst="rect">
            <a:avLst/>
          </a:prstGeom>
          <a:noFill/>
        </p:spPr>
        <p:txBody>
          <a:bodyPr wrap="square" lIns="36576" rIns="36576" tIns="18288" bIns="18288">
            <a:spAutoFit/>
          </a:bodyPr>
          <a:lstStyle/>
          <a:p>
            <a:pPr>
              <a:spcAft>
                <a:spcPts val="300"/>
              </a:spcAft>
            </a:pPr>
            <a:r>
              <a:rPr sz="3000" b="1">
                <a:solidFill>
                  <a:srgbClr val="EAB308"/>
                </a:solidFill>
                <a:latin typeface="Calibri"/>
              </a:rPr>
              <a:t>20 000 000 FCFA</a:t>
            </a:r>
          </a:p>
        </p:txBody>
      </p:sp>
      <p:sp>
        <p:nvSpPr>
          <p:cNvPr id="20" name="TextBox 19"/>
          <p:cNvSpPr txBox="1"/>
          <p:nvPr/>
        </p:nvSpPr>
        <p:spPr>
          <a:xfrm>
            <a:off x="7178040" y="2350008"/>
            <a:ext cx="4142232" cy="777240"/>
          </a:xfrm>
          <a:prstGeom prst="rect">
            <a:avLst/>
          </a:prstGeom>
          <a:noFill/>
        </p:spPr>
        <p:txBody>
          <a:bodyPr wrap="square" lIns="36576" rIns="36576" tIns="18288" bIns="18288">
            <a:spAutoFit/>
          </a:bodyPr>
          <a:lstStyle/>
          <a:p>
            <a:pPr>
              <a:spcAft>
                <a:spcPts val="300"/>
              </a:spcAft>
            </a:pPr>
            <a:r>
              <a:rPr sz="1000" b="0">
                <a:solidFill>
                  <a:srgbClr val="FFFFFF"/>
                </a:solidFill>
                <a:latin typeface="Calibri"/>
              </a:rPr>
              <a:t>Valeur la plus directement observable : la valeur proposée (19,5 M) lui est inférieure de 2,5 %.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06</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Méthode C — Valeur d'usage</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Revenus de TamCar actualisés</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8 / 15</a:t>
            </a:r>
          </a:p>
        </p:txBody>
      </p:sp>
      <p:sp>
        <p:nvSpPr>
          <p:cNvPr id="10" name="Rectangle 9"/>
          <p:cNvSpPr/>
          <p:nvPr/>
        </p:nvSpPr>
        <p:spPr>
          <a:xfrm>
            <a:off x="640080" y="145389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371600"/>
            <a:ext cx="5852159" cy="64008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Flotte — </a:t>
            </a:r>
            <a:r>
              <a:rPr sz="1050" b="0">
                <a:solidFill>
                  <a:srgbClr val="0F172A"/>
                </a:solidFill>
                <a:latin typeface="Calibri"/>
              </a:rPr>
              <a:t>flotte de départ du plan d'affaires v6 ; voitures de tiers et Parakou hors projection.</a:t>
            </a:r>
          </a:p>
        </p:txBody>
      </p:sp>
      <p:sp>
        <p:nvSpPr>
          <p:cNvPr id="12" name="Rectangle 11"/>
          <p:cNvSpPr/>
          <p:nvPr/>
        </p:nvSpPr>
        <p:spPr>
          <a:xfrm>
            <a:off x="640080" y="213969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2057400"/>
            <a:ext cx="5852159" cy="64008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Revenus — </a:t>
            </a:r>
            <a:r>
              <a:rPr sz="1050" b="0">
                <a:solidFill>
                  <a:srgbClr val="0F172A"/>
                </a:solidFill>
                <a:latin typeface="Calibri"/>
              </a:rPr>
              <a:t>part de TamCar sur les recettes des véhicules, aux planchers de recettes prévus aux contrats (100 %).</a:t>
            </a:r>
          </a:p>
        </p:txBody>
      </p:sp>
      <p:sp>
        <p:nvSpPr>
          <p:cNvPr id="14" name="Rectangle 13"/>
          <p:cNvSpPr/>
          <p:nvPr/>
        </p:nvSpPr>
        <p:spPr>
          <a:xfrm>
            <a:off x="640080" y="282549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2743200"/>
            <a:ext cx="5852159" cy="64008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Horizon — </a:t>
            </a:r>
            <a:r>
              <a:rPr sz="1050" b="0">
                <a:solidFill>
                  <a:srgbClr val="0F172A"/>
                </a:solidFill>
                <a:latin typeface="Calibri"/>
              </a:rPr>
              <a:t>36 mois à compter du lancement (janvier 2027).</a:t>
            </a:r>
          </a:p>
        </p:txBody>
      </p:sp>
      <p:sp>
        <p:nvSpPr>
          <p:cNvPr id="16" name="Rectangle 15"/>
          <p:cNvSpPr/>
          <p:nvPr/>
        </p:nvSpPr>
        <p:spPr>
          <a:xfrm>
            <a:off x="640080" y="3511296"/>
            <a:ext cx="8229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3429000"/>
            <a:ext cx="5852159" cy="640080"/>
          </a:xfrm>
          <a:prstGeom prst="rect">
            <a:avLst/>
          </a:prstGeom>
          <a:noFill/>
        </p:spPr>
        <p:txBody>
          <a:bodyPr wrap="square" lIns="36576" rIns="36576" tIns="18288" bIns="18288">
            <a:spAutoFit/>
          </a:bodyPr>
          <a:lstStyle/>
          <a:p>
            <a:pPr>
              <a:spcAft>
                <a:spcPts val="300"/>
              </a:spcAft>
            </a:pPr>
            <a:r>
              <a:rPr sz="1050" b="1">
                <a:solidFill>
                  <a:srgbClr val="0F172A"/>
                </a:solidFill>
                <a:latin typeface="Calibri"/>
              </a:rPr>
              <a:t>Actualisation — </a:t>
            </a:r>
            <a:r>
              <a:rPr sz="1050" b="0">
                <a:solidFill>
                  <a:srgbClr val="0F172A"/>
                </a:solidFill>
                <a:latin typeface="Calibri"/>
              </a:rPr>
              <a:t>20 % par an (prime de risque startup Bénin conservatrice).</a:t>
            </a:r>
          </a:p>
        </p:txBody>
      </p:sp>
      <p:sp>
        <p:nvSpPr>
          <p:cNvPr id="18" name="Rounded Rectangle 17"/>
          <p:cNvSpPr/>
          <p:nvPr/>
        </p:nvSpPr>
        <p:spPr>
          <a:xfrm>
            <a:off x="640080" y="4206240"/>
            <a:ext cx="6035040" cy="685800"/>
          </a:xfrm>
          <a:prstGeom prst="round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97680"/>
            <a:ext cx="5760720" cy="548640"/>
          </a:xfrm>
          <a:prstGeom prst="rect">
            <a:avLst/>
          </a:prstGeom>
          <a:noFill/>
        </p:spPr>
        <p:txBody>
          <a:bodyPr wrap="square" lIns="36576" rIns="36576" tIns="18288" bIns="18288">
            <a:spAutoFit/>
          </a:bodyPr>
          <a:lstStyle/>
          <a:p>
            <a:pPr>
              <a:spcAft>
                <a:spcPts val="300"/>
              </a:spcAft>
            </a:pPr>
            <a:r>
              <a:rPr sz="1050" b="1">
                <a:solidFill>
                  <a:srgbClr val="1E3A8A"/>
                </a:solidFill>
                <a:latin typeface="Calibri"/>
              </a:rPr>
              <a:t>Valeur d'usage = Σ (revenus du mois ÷ 1,20^(mois / 12)), mois 1 à 36 = 25 500 000 FCFA</a:t>
            </a:r>
          </a:p>
        </p:txBody>
      </p:sp>
      <p:sp>
        <p:nvSpPr>
          <p:cNvPr id="20" name="Rounded Rectangle 19"/>
          <p:cNvSpPr/>
          <p:nvPr/>
        </p:nvSpPr>
        <p:spPr>
          <a:xfrm>
            <a:off x="6949440" y="1325880"/>
            <a:ext cx="4599432" cy="196596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86600" y="1399032"/>
            <a:ext cx="4325112" cy="274320"/>
          </a:xfrm>
          <a:prstGeom prst="rect">
            <a:avLst/>
          </a:prstGeom>
          <a:noFill/>
        </p:spPr>
        <p:txBody>
          <a:bodyPr wrap="square" lIns="36576" rIns="36576" tIns="18288" bIns="18288">
            <a:spAutoFit/>
          </a:bodyPr>
          <a:lstStyle/>
          <a:p>
            <a:pPr>
              <a:spcAft>
                <a:spcPts val="300"/>
              </a:spcAft>
            </a:pPr>
            <a:r>
              <a:rPr sz="1100" b="1">
                <a:solidFill>
                  <a:srgbClr val="1E3A8A"/>
                </a:solidFill>
                <a:latin typeface="Calibri"/>
              </a:rPr>
              <a:t>Note critique de méthode</a:t>
            </a:r>
          </a:p>
        </p:txBody>
      </p:sp>
      <p:sp>
        <p:nvSpPr>
          <p:cNvPr id="22" name="TextBox 21"/>
          <p:cNvSpPr txBox="1"/>
          <p:nvPr/>
        </p:nvSpPr>
        <p:spPr>
          <a:xfrm>
            <a:off x="7086600" y="1709928"/>
            <a:ext cx="4325112" cy="1508760"/>
          </a:xfrm>
          <a:prstGeom prst="rect">
            <a:avLst/>
          </a:prstGeom>
          <a:noFill/>
        </p:spPr>
        <p:txBody>
          <a:bodyPr wrap="square" lIns="36576" rIns="36576" tIns="18288" bIns="18288">
            <a:spAutoFit/>
          </a:bodyPr>
          <a:lstStyle/>
          <a:p>
            <a:pPr>
              <a:spcAft>
                <a:spcPts val="300"/>
              </a:spcAft>
            </a:pPr>
            <a:r>
              <a:rPr sz="1000" b="0">
                <a:solidFill>
                  <a:srgbClr val="0F172A"/>
                </a:solidFill>
                <a:latin typeface="Calibri"/>
              </a:rPr>
              <a:t>Appliquée à un actif jeune, sans historique de revenus, la valeur d'usage est incertaine : elle dépend des planchers de recettes atteints. À 70 % des planchers, le plan ne dégage plus d'excédent d'exploitation. Elle sert de confirmation et de borne haute.</a:t>
            </a:r>
          </a:p>
        </p:txBody>
      </p:sp>
      <p:sp>
        <p:nvSpPr>
          <p:cNvPr id="23" name="Rounded Rectangle 22"/>
          <p:cNvSpPr/>
          <p:nvPr/>
        </p:nvSpPr>
        <p:spPr>
          <a:xfrm>
            <a:off x="6949440" y="3520440"/>
            <a:ext cx="4599432" cy="1554480"/>
          </a:xfrm>
          <a:prstGeom prst="roundRect">
            <a:avLst>
              <a:gd name="adj" fmla="val 8000"/>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78040" y="3630168"/>
            <a:ext cx="4142232" cy="274320"/>
          </a:xfrm>
          <a:prstGeom prst="rect">
            <a:avLst/>
          </a:prstGeom>
          <a:noFill/>
        </p:spPr>
        <p:txBody>
          <a:bodyPr wrap="square" lIns="36576" rIns="36576" tIns="18288" bIns="18288">
            <a:spAutoFit/>
          </a:bodyPr>
          <a:lstStyle/>
          <a:p>
            <a:pPr>
              <a:spcAft>
                <a:spcPts val="300"/>
              </a:spcAft>
            </a:pPr>
            <a:r>
              <a:rPr sz="1100" b="1">
                <a:solidFill>
                  <a:srgbClr val="C7D2FE"/>
                </a:solidFill>
                <a:latin typeface="Calibri"/>
              </a:rPr>
              <a:t>Résultat Méthode C</a:t>
            </a:r>
          </a:p>
        </p:txBody>
      </p:sp>
      <p:sp>
        <p:nvSpPr>
          <p:cNvPr id="25" name="TextBox 24"/>
          <p:cNvSpPr txBox="1"/>
          <p:nvPr/>
        </p:nvSpPr>
        <p:spPr>
          <a:xfrm>
            <a:off x="7178040" y="3904488"/>
            <a:ext cx="4142232" cy="640080"/>
          </a:xfrm>
          <a:prstGeom prst="rect">
            <a:avLst/>
          </a:prstGeom>
          <a:noFill/>
        </p:spPr>
        <p:txBody>
          <a:bodyPr wrap="square" lIns="36576" rIns="36576" tIns="18288" bIns="18288">
            <a:spAutoFit/>
          </a:bodyPr>
          <a:lstStyle/>
          <a:p>
            <a:pPr>
              <a:spcAft>
                <a:spcPts val="300"/>
              </a:spcAft>
            </a:pPr>
            <a:r>
              <a:rPr sz="3000" b="1">
                <a:solidFill>
                  <a:srgbClr val="EAB308"/>
                </a:solidFill>
                <a:latin typeface="Calibri"/>
              </a:rPr>
              <a:t>25 500 000 FCFA</a:t>
            </a:r>
          </a:p>
        </p:txBody>
      </p:sp>
      <p:sp>
        <p:nvSpPr>
          <p:cNvPr id="26" name="TextBox 25"/>
          <p:cNvSpPr txBox="1"/>
          <p:nvPr/>
        </p:nvSpPr>
        <p:spPr>
          <a:xfrm>
            <a:off x="7178040" y="4544568"/>
            <a:ext cx="4142232" cy="502920"/>
          </a:xfrm>
          <a:prstGeom prst="rect">
            <a:avLst/>
          </a:prstGeom>
          <a:noFill/>
        </p:spPr>
        <p:txBody>
          <a:bodyPr wrap="square" lIns="36576" rIns="36576" tIns="18288" bIns="18288">
            <a:spAutoFit/>
          </a:bodyPr>
          <a:lstStyle/>
          <a:p>
            <a:pPr>
              <a:spcAft>
                <a:spcPts val="300"/>
              </a:spcAft>
            </a:pPr>
            <a:r>
              <a:rPr sz="1000" b="0">
                <a:solidFill>
                  <a:srgbClr val="FFFFFF"/>
                </a:solidFill>
                <a:latin typeface="Calibri"/>
              </a:rPr>
              <a:t>Borne haute : la valeur proposée (19,5 M) lui est inférieure de 23,5 %.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07</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Synthèse des méthodes</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Convergence et position finale du dossier</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9 / 15</a:t>
            </a:r>
          </a:p>
        </p:txBody>
      </p:sp>
      <p:graphicFrame>
        <p:nvGraphicFramePr>
          <p:cNvPr id="10" name="Table 9"/>
          <p:cNvGraphicFramePr>
            <a:graphicFrameLocks noGrp="1"/>
          </p:cNvGraphicFramePr>
          <p:nvPr/>
        </p:nvGraphicFramePr>
        <p:xfrm>
          <a:off x="640080" y="1325880"/>
          <a:ext cx="6309360" cy="2286000"/>
        </p:xfrm>
        <a:graphic>
          <a:graphicData uri="http://schemas.openxmlformats.org/drawingml/2006/table">
            <a:tbl>
              <a:tblPr firstRow="1" bandRow="1">
                <a:tableStyleId>{5C22544A-7EE6-4342-B048-85BDC9FD1C3A}</a:tableStyleId>
              </a:tblPr>
              <a:tblGrid>
                <a:gridCol w="2103120"/>
                <a:gridCol w="2628900"/>
                <a:gridCol w="1577340"/>
              </a:tblGrid>
              <a:tr h="457200">
                <a:tc>
                  <a:txBody>
                    <a:bodyPr wrap="square"/>
                    <a:lstStyle/>
                    <a:p>
                      <a:r>
                        <a:rPr sz="1050" b="1">
                          <a:solidFill>
                            <a:srgbClr val="FFFFFF"/>
                          </a:solidFill>
                          <a:latin typeface="Calibri"/>
                        </a:rPr>
                        <a:t>Méthode</a:t>
                      </a:r>
                    </a:p>
                  </a:txBody>
                  <a:tcPr marL="64008" marR="64008" marT="27432" marB="27432" anchor="ctr">
                    <a:solidFill>
                      <a:srgbClr val="1E3A8A"/>
                    </a:solidFill>
                  </a:tcPr>
                </a:tc>
                <a:tc>
                  <a:txBody>
                    <a:bodyPr wrap="square"/>
                    <a:lstStyle/>
                    <a:p>
                      <a:r>
                        <a:rPr sz="1050" b="1">
                          <a:solidFill>
                            <a:srgbClr val="FFFFFF"/>
                          </a:solidFill>
                          <a:latin typeface="Calibri"/>
                        </a:rPr>
                        <a:t>Base</a:t>
                      </a:r>
                    </a:p>
                  </a:txBody>
                  <a:tcPr marL="64008" marR="64008" marT="27432" marB="27432" anchor="ctr">
                    <a:solidFill>
                      <a:srgbClr val="1E3A8A"/>
                    </a:solidFill>
                  </a:tcPr>
                </a:tc>
                <a:tc>
                  <a:txBody>
                    <a:bodyPr wrap="square"/>
                    <a:lstStyle/>
                    <a:p>
                      <a:pPr algn="r"/>
                      <a:r>
                        <a:rPr sz="1050" b="1">
                          <a:solidFill>
                            <a:srgbClr val="FFFFFF"/>
                          </a:solidFill>
                          <a:latin typeface="Calibri"/>
                        </a:rPr>
                        <a:t>Valeur</a:t>
                      </a:r>
                    </a:p>
                  </a:txBody>
                  <a:tcPr marL="64008" marR="64008" marT="27432" marB="27432" anchor="ctr">
                    <a:solidFill>
                      <a:srgbClr val="1E3A8A"/>
                    </a:solidFill>
                  </a:tcPr>
                </a:tc>
              </a:tr>
              <a:tr h="457200">
                <a:tc>
                  <a:txBody>
                    <a:bodyPr wrap="square"/>
                    <a:lstStyle/>
                    <a:p>
                      <a:r>
                        <a:rPr sz="1050" b="0">
                          <a:solidFill>
                            <a:srgbClr val="0F172A"/>
                          </a:solidFill>
                          <a:latin typeface="Calibri"/>
                        </a:rPr>
                        <a:t>A. Coût historique</a:t>
                      </a:r>
                    </a:p>
                  </a:txBody>
                  <a:tcPr marL="64008" marR="64008" marT="27432" marB="27432" anchor="ctr">
                    <a:solidFill>
                      <a:srgbClr val="FFFFFF"/>
                    </a:solidFill>
                  </a:tcPr>
                </a:tc>
                <a:tc>
                  <a:txBody>
                    <a:bodyPr wrap="square"/>
                    <a:lstStyle/>
                    <a:p>
                      <a:r>
                        <a:rPr sz="1050" b="0">
                          <a:solidFill>
                            <a:srgbClr val="0F172A"/>
                          </a:solidFill>
                          <a:latin typeface="Calibri"/>
                        </a:rPr>
                        <a:t>2 000 h × 25 000 F</a:t>
                      </a:r>
                    </a:p>
                  </a:txBody>
                  <a:tcPr marL="64008" marR="64008" marT="27432" marB="27432" anchor="ctr">
                    <a:solidFill>
                      <a:srgbClr val="FFFFFF"/>
                    </a:solidFill>
                  </a:tcPr>
                </a:tc>
                <a:tc>
                  <a:txBody>
                    <a:bodyPr wrap="square"/>
                    <a:lstStyle/>
                    <a:p>
                      <a:pPr algn="r"/>
                      <a:r>
                        <a:rPr sz="1050" b="0">
                          <a:solidFill>
                            <a:srgbClr val="0F172A"/>
                          </a:solidFill>
                          <a:latin typeface="Calibri"/>
                        </a:rPr>
                        <a:t>50 000 000</a:t>
                      </a:r>
                    </a:p>
                  </a:txBody>
                  <a:tcPr marL="64008" marR="64008" marT="27432" marB="27432" anchor="ctr">
                    <a:solidFill>
                      <a:srgbClr val="FFFFFF"/>
                    </a:solidFill>
                  </a:tcPr>
                </a:tc>
              </a:tr>
              <a:tr h="457200">
                <a:tc>
                  <a:txBody>
                    <a:bodyPr wrap="square"/>
                    <a:lstStyle/>
                    <a:p>
                      <a:r>
                        <a:rPr sz="1050" b="0">
                          <a:solidFill>
                            <a:srgbClr val="0F172A"/>
                          </a:solidFill>
                          <a:latin typeface="Calibri"/>
                        </a:rPr>
                        <a:t>B. Coût de reproduction</a:t>
                      </a:r>
                    </a:p>
                  </a:txBody>
                  <a:tcPr marL="64008" marR="64008" marT="27432" marB="27432" anchor="ctr">
                    <a:solidFill>
                      <a:srgbClr val="F8FAFC"/>
                    </a:solidFill>
                  </a:tcPr>
                </a:tc>
                <a:tc>
                  <a:txBody>
                    <a:bodyPr wrap="square"/>
                    <a:lstStyle/>
                    <a:p>
                      <a:r>
                        <a:rPr sz="1050" b="0">
                          <a:solidFill>
                            <a:srgbClr val="0F172A"/>
                          </a:solidFill>
                          <a:latin typeface="Calibri"/>
                        </a:rPr>
                        <a:t>800 h × 25 000 F</a:t>
                      </a:r>
                    </a:p>
                  </a:txBody>
                  <a:tcPr marL="64008" marR="64008" marT="27432" marB="27432" anchor="ctr">
                    <a:solidFill>
                      <a:srgbClr val="F8FAFC"/>
                    </a:solidFill>
                  </a:tcPr>
                </a:tc>
                <a:tc>
                  <a:txBody>
                    <a:bodyPr wrap="square"/>
                    <a:lstStyle/>
                    <a:p>
                      <a:pPr algn="r"/>
                      <a:r>
                        <a:rPr sz="1050" b="0">
                          <a:solidFill>
                            <a:srgbClr val="0F172A"/>
                          </a:solidFill>
                          <a:latin typeface="Calibri"/>
                        </a:rPr>
                        <a:t>20 000 000</a:t>
                      </a:r>
                    </a:p>
                  </a:txBody>
                  <a:tcPr marL="64008" marR="64008" marT="27432" marB="27432" anchor="ctr">
                    <a:solidFill>
                      <a:srgbClr val="F8FAFC"/>
                    </a:solidFill>
                  </a:tcPr>
                </a:tc>
              </a:tr>
              <a:tr h="457200">
                <a:tc>
                  <a:txBody>
                    <a:bodyPr wrap="square"/>
                    <a:lstStyle/>
                    <a:p>
                      <a:r>
                        <a:rPr sz="1050" b="0">
                          <a:solidFill>
                            <a:srgbClr val="0F172A"/>
                          </a:solidFill>
                          <a:latin typeface="Calibri"/>
                        </a:rPr>
                        <a:t>C. Valeur d'usage</a:t>
                      </a:r>
                    </a:p>
                  </a:txBody>
                  <a:tcPr marL="64008" marR="64008" marT="27432" marB="27432" anchor="ctr">
                    <a:solidFill>
                      <a:srgbClr val="FFFFFF"/>
                    </a:solidFill>
                  </a:tcPr>
                </a:tc>
                <a:tc>
                  <a:txBody>
                    <a:bodyPr wrap="square"/>
                    <a:lstStyle/>
                    <a:p>
                      <a:r>
                        <a:rPr sz="1050" b="0">
                          <a:solidFill>
                            <a:srgbClr val="0F172A"/>
                          </a:solidFill>
                          <a:latin typeface="Calibri"/>
                        </a:rPr>
                        <a:t>Revenus 36 mois à 20 %</a:t>
                      </a:r>
                    </a:p>
                  </a:txBody>
                  <a:tcPr marL="64008" marR="64008" marT="27432" marB="27432" anchor="ctr">
                    <a:solidFill>
                      <a:srgbClr val="FFFFFF"/>
                    </a:solidFill>
                  </a:tcPr>
                </a:tc>
                <a:tc>
                  <a:txBody>
                    <a:bodyPr wrap="square"/>
                    <a:lstStyle/>
                    <a:p>
                      <a:pPr algn="r"/>
                      <a:r>
                        <a:rPr sz="1050" b="0">
                          <a:solidFill>
                            <a:srgbClr val="0F172A"/>
                          </a:solidFill>
                          <a:latin typeface="Calibri"/>
                        </a:rPr>
                        <a:t>25 500 000</a:t>
                      </a:r>
                    </a:p>
                  </a:txBody>
                  <a:tcPr marL="64008" marR="64008" marT="27432" marB="27432" anchor="ctr">
                    <a:solidFill>
                      <a:srgbClr val="FFFFFF"/>
                    </a:solidFill>
                  </a:tcPr>
                </a:tc>
              </a:tr>
              <a:tr h="457200">
                <a:tc>
                  <a:txBody>
                    <a:bodyPr wrap="square"/>
                    <a:lstStyle/>
                    <a:p>
                      <a:r>
                        <a:rPr sz="1050" b="1">
                          <a:solidFill>
                            <a:srgbClr val="0F172A"/>
                          </a:solidFill>
                          <a:latin typeface="Calibri"/>
                        </a:rPr>
                        <a:t>VALEUR PROPOSÉE</a:t>
                      </a:r>
                    </a:p>
                  </a:txBody>
                  <a:tcPr marL="64008" marR="64008" marT="27432" marB="27432" anchor="ctr">
                    <a:solidFill>
                      <a:srgbClr val="DBEAFE"/>
                    </a:solidFill>
                  </a:tcPr>
                </a:tc>
                <a:tc>
                  <a:txBody>
                    <a:bodyPr wrap="square"/>
                    <a:lstStyle/>
                    <a:p>
                      <a:r>
                        <a:rPr sz="1050" b="1">
                          <a:solidFill>
                            <a:srgbClr val="0F172A"/>
                          </a:solidFill>
                          <a:latin typeface="Calibri"/>
                        </a:rPr>
                        <a:t/>
                      </a:r>
                    </a:p>
                  </a:txBody>
                  <a:tcPr marL="64008" marR="64008" marT="27432" marB="27432" anchor="ctr">
                    <a:solidFill>
                      <a:srgbClr val="DBEAFE"/>
                    </a:solidFill>
                  </a:tcPr>
                </a:tc>
                <a:tc>
                  <a:txBody>
                    <a:bodyPr wrap="square"/>
                    <a:lstStyle/>
                    <a:p>
                      <a:pPr algn="r"/>
                      <a:r>
                        <a:rPr sz="1050" b="1">
                          <a:solidFill>
                            <a:srgbClr val="0F172A"/>
                          </a:solidFill>
                          <a:latin typeface="Calibri"/>
                        </a:rPr>
                        <a:t>19 500 000 FCFA</a:t>
                      </a:r>
                    </a:p>
                  </a:txBody>
                  <a:tcPr marL="64008" marR="64008" marT="27432" marB="27432" anchor="ctr">
                    <a:solidFill>
                      <a:srgbClr val="DBEAFE"/>
                    </a:solidFill>
                  </a:tcPr>
                </a:tc>
              </a:tr>
            </a:tbl>
          </a:graphicData>
        </a:graphic>
      </p:graphicFrame>
      <p:sp>
        <p:nvSpPr>
          <p:cNvPr id="11" name="TextBox 10"/>
          <p:cNvSpPr txBox="1"/>
          <p:nvPr/>
        </p:nvSpPr>
        <p:spPr>
          <a:xfrm>
            <a:off x="640080" y="3840480"/>
            <a:ext cx="6309360" cy="1097280"/>
          </a:xfrm>
          <a:prstGeom prst="rect">
            <a:avLst/>
          </a:prstGeom>
          <a:noFill/>
        </p:spPr>
        <p:txBody>
          <a:bodyPr wrap="square" lIns="36576" rIns="36576" tIns="18288" bIns="18288">
            <a:spAutoFit/>
          </a:bodyPr>
          <a:lstStyle/>
          <a:p>
            <a:pPr>
              <a:spcAft>
                <a:spcPts val="300"/>
              </a:spcAft>
            </a:pPr>
            <a:r>
              <a:rPr sz="1050" b="0">
                <a:solidFill>
                  <a:srgbClr val="64748B"/>
                </a:solidFill>
                <a:latin typeface="Calibri"/>
              </a:rPr>
              <a:t>La valeur proposée est </a:t>
            </a:r>
            <a:r>
              <a:rPr sz="1050" b="1">
                <a:solidFill>
                  <a:srgbClr val="64748B"/>
                </a:solidFill>
                <a:latin typeface="Calibri"/>
              </a:rPr>
              <a:t>inférieure au coût de reproduction</a:t>
            </a:r>
            <a:r>
              <a:rPr sz="1050" b="0">
                <a:solidFill>
                  <a:srgbClr val="64748B"/>
                </a:solidFill>
                <a:latin typeface="Calibri"/>
              </a:rPr>
              <a:t> (− 2,5 %), </a:t>
            </a:r>
            <a:r>
              <a:rPr sz="1050" b="1">
                <a:solidFill>
                  <a:srgbClr val="64748B"/>
                </a:solidFill>
                <a:latin typeface="Calibri"/>
              </a:rPr>
              <a:t>inférieure à la valeur d'usage</a:t>
            </a:r>
            <a:r>
              <a:rPr sz="1050" b="0">
                <a:solidFill>
                  <a:srgbClr val="64748B"/>
                </a:solidFill>
                <a:latin typeface="Calibri"/>
              </a:rPr>
              <a:t> (− 23,5 %) et égale à </a:t>
            </a:r>
            <a:r>
              <a:rPr sz="1050" b="1">
                <a:solidFill>
                  <a:srgbClr val="64748B"/>
                </a:solidFill>
                <a:latin typeface="Calibri"/>
              </a:rPr>
              <a:t>39 % du coût historique</a:t>
            </a:r>
            <a:r>
              <a:rPr sz="1050" b="0">
                <a:solidFill>
                  <a:srgbClr val="64748B"/>
                </a:solidFill>
                <a:latin typeface="Calibri"/>
              </a:rPr>
              <a:t>. Elle correspond à la valeur nécessaire pour la répartition convenue avec l'investisseur (13 000 000 F en numéraire pour 40 %).</a:t>
            </a:r>
          </a:p>
        </p:txBody>
      </p:sp>
      <p:sp>
        <p:nvSpPr>
          <p:cNvPr id="12" name="Rounded Rectangle 11"/>
          <p:cNvSpPr/>
          <p:nvPr/>
        </p:nvSpPr>
        <p:spPr>
          <a:xfrm>
            <a:off x="7315200" y="1325880"/>
            <a:ext cx="4233672" cy="356616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1399032"/>
            <a:ext cx="3959352" cy="274320"/>
          </a:xfrm>
          <a:prstGeom prst="rect">
            <a:avLst/>
          </a:prstGeom>
          <a:noFill/>
        </p:spPr>
        <p:txBody>
          <a:bodyPr wrap="square" lIns="36576" rIns="36576" tIns="18288" bIns="18288">
            <a:spAutoFit/>
          </a:bodyPr>
          <a:lstStyle/>
          <a:p>
            <a:pPr>
              <a:spcAft>
                <a:spcPts val="300"/>
              </a:spcAft>
            </a:pPr>
            <a:r>
              <a:rPr sz="1200" b="1">
                <a:solidFill>
                  <a:srgbClr val="1E3A8A"/>
                </a:solidFill>
                <a:latin typeface="Calibri"/>
              </a:rPr>
              <a:t>Position finale du dossier</a:t>
            </a:r>
          </a:p>
        </p:txBody>
      </p:sp>
      <p:sp>
        <p:nvSpPr>
          <p:cNvPr id="14" name="TextBox 13"/>
          <p:cNvSpPr txBox="1"/>
          <p:nvPr/>
        </p:nvSpPr>
        <p:spPr>
          <a:xfrm>
            <a:off x="7452360" y="1709928"/>
            <a:ext cx="3959352" cy="3108960"/>
          </a:xfrm>
          <a:prstGeom prst="rect">
            <a:avLst/>
          </a:prstGeom>
          <a:noFill/>
        </p:spPr>
        <p:txBody>
          <a:bodyPr wrap="square" lIns="36576" rIns="36576" tIns="18288" bIns="18288">
            <a:spAutoFit/>
          </a:bodyPr>
          <a:lstStyle/>
          <a:p>
            <a:pPr>
              <a:spcAft>
                <a:spcPts val="300"/>
              </a:spcAft>
            </a:pPr>
            <a:r>
              <a:rPr sz="1100" b="0">
                <a:solidFill>
                  <a:srgbClr val="0F172A"/>
                </a:solidFill>
                <a:latin typeface="Calibri"/>
              </a:rPr>
              <a:t>• 19 500 000 FCFA, sous B (20 M) et C (25,5 M)
• 39 % du coût historique (50 M)
• Fraction infime des comparables sectoriels africains
• Responsabilité solidaire des associés à un niveau maîtrisable (art. 312 AUSCGIE)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07</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Comparables de marché</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Valorisations d’acteurs comparables ou concurrents</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10 / 15</a:t>
            </a:r>
          </a:p>
        </p:txBody>
      </p:sp>
      <p:graphicFrame>
        <p:nvGraphicFramePr>
          <p:cNvPr id="10" name="Table 9"/>
          <p:cNvGraphicFramePr>
            <a:graphicFrameLocks noGrp="1"/>
          </p:cNvGraphicFramePr>
          <p:nvPr/>
        </p:nvGraphicFramePr>
        <p:xfrm>
          <a:off x="640080" y="1325880"/>
          <a:ext cx="10908789" cy="3072384"/>
        </p:xfrm>
        <a:graphic>
          <a:graphicData uri="http://schemas.openxmlformats.org/drawingml/2006/table">
            <a:tbl>
              <a:tblPr firstRow="1" bandRow="1">
                <a:tableStyleId>{5C22544A-7EE6-4342-B048-85BDC9FD1C3A}</a:tableStyleId>
              </a:tblPr>
              <a:tblGrid>
                <a:gridCol w="3009321"/>
                <a:gridCol w="3009321"/>
                <a:gridCol w="2633156"/>
                <a:gridCol w="2256991"/>
              </a:tblGrid>
              <a:tr h="384048">
                <a:tc>
                  <a:txBody>
                    <a:bodyPr wrap="square"/>
                    <a:lstStyle/>
                    <a:p>
                      <a:r>
                        <a:rPr sz="1000" b="1">
                          <a:solidFill>
                            <a:srgbClr val="FFFFFF"/>
                          </a:solidFill>
                          <a:latin typeface="Calibri"/>
                        </a:rPr>
                        <a:t>Acteur</a:t>
                      </a:r>
                    </a:p>
                  </a:txBody>
                  <a:tcPr marL="64008" marR="64008" marT="27432" marB="27432" anchor="ctr">
                    <a:solidFill>
                      <a:srgbClr val="1E3A8A"/>
                    </a:solidFill>
                  </a:tcPr>
                </a:tc>
                <a:tc>
                  <a:txBody>
                    <a:bodyPr wrap="square"/>
                    <a:lstStyle/>
                    <a:p>
                      <a:r>
                        <a:rPr sz="1000" b="1">
                          <a:solidFill>
                            <a:srgbClr val="FFFFFF"/>
                          </a:solidFill>
                          <a:latin typeface="Calibri"/>
                        </a:rPr>
                        <a:t>Zone</a:t>
                      </a:r>
                    </a:p>
                  </a:txBody>
                  <a:tcPr marL="64008" marR="64008" marT="27432" marB="27432" anchor="ctr">
                    <a:solidFill>
                      <a:srgbClr val="1E3A8A"/>
                    </a:solidFill>
                  </a:tcPr>
                </a:tc>
                <a:tc>
                  <a:txBody>
                    <a:bodyPr wrap="square"/>
                    <a:lstStyle/>
                    <a:p>
                      <a:pPr algn="r"/>
                      <a:r>
                        <a:rPr sz="1000" b="1">
                          <a:solidFill>
                            <a:srgbClr val="FFFFFF"/>
                          </a:solidFill>
                          <a:latin typeface="Calibri"/>
                        </a:rPr>
                        <a:t>Valorisation dernière levée</a:t>
                      </a:r>
                    </a:p>
                  </a:txBody>
                  <a:tcPr marL="64008" marR="64008" marT="27432" marB="27432" anchor="ctr">
                    <a:solidFill>
                      <a:srgbClr val="1E3A8A"/>
                    </a:solidFill>
                  </a:tcPr>
                </a:tc>
                <a:tc>
                  <a:txBody>
                    <a:bodyPr wrap="square"/>
                    <a:lstStyle/>
                    <a:p>
                      <a:pPr algn="r"/>
                      <a:r>
                        <a:rPr sz="1000" b="1">
                          <a:solidFill>
                            <a:srgbClr val="FFFFFF"/>
                          </a:solidFill>
                          <a:latin typeface="Calibri"/>
                        </a:rPr>
                        <a:t>Équiv. FCFA</a:t>
                      </a:r>
                    </a:p>
                  </a:txBody>
                  <a:tcPr marL="64008" marR="64008" marT="27432" marB="27432" anchor="ctr">
                    <a:solidFill>
                      <a:srgbClr val="1E3A8A"/>
                    </a:solidFill>
                  </a:tcPr>
                </a:tc>
              </a:tr>
              <a:tr h="384048">
                <a:tc>
                  <a:txBody>
                    <a:bodyPr wrap="square"/>
                    <a:lstStyle/>
                    <a:p>
                      <a:r>
                        <a:rPr sz="1000" b="0">
                          <a:solidFill>
                            <a:srgbClr val="0F172A"/>
                          </a:solidFill>
                          <a:latin typeface="Calibri"/>
                        </a:rPr>
                        <a:t>Yango (filiale Yandex)</a:t>
                      </a:r>
                    </a:p>
                  </a:txBody>
                  <a:tcPr marL="64008" marR="64008" marT="27432" marB="27432" anchor="ctr">
                    <a:solidFill>
                      <a:srgbClr val="FFFFFF"/>
                    </a:solidFill>
                  </a:tcPr>
                </a:tc>
                <a:tc>
                  <a:txBody>
                    <a:bodyPr wrap="square"/>
                    <a:lstStyle/>
                    <a:p>
                      <a:r>
                        <a:rPr sz="1000" b="0">
                          <a:solidFill>
                            <a:srgbClr val="0F172A"/>
                          </a:solidFill>
                          <a:latin typeface="Calibri"/>
                        </a:rPr>
                        <a:t>Global — présent Bénin</a:t>
                      </a:r>
                    </a:p>
                  </a:txBody>
                  <a:tcPr marL="64008" marR="64008" marT="27432" marB="27432" anchor="ctr">
                    <a:solidFill>
                      <a:srgbClr val="FFFFFF"/>
                    </a:solidFill>
                  </a:tcPr>
                </a:tc>
                <a:tc>
                  <a:txBody>
                    <a:bodyPr wrap="square"/>
                    <a:lstStyle/>
                    <a:p>
                      <a:pPr algn="r"/>
                      <a:r>
                        <a:rPr sz="1000" b="0">
                          <a:solidFill>
                            <a:srgbClr val="0F172A"/>
                          </a:solidFill>
                          <a:latin typeface="Calibri"/>
                        </a:rPr>
                        <a:t>~500 M USD</a:t>
                      </a:r>
                    </a:p>
                  </a:txBody>
                  <a:tcPr marL="64008" marR="64008" marT="27432" marB="27432" anchor="ctr">
                    <a:solidFill>
                      <a:srgbClr val="FFFFFF"/>
                    </a:solidFill>
                  </a:tcPr>
                </a:tc>
                <a:tc>
                  <a:txBody>
                    <a:bodyPr wrap="square"/>
                    <a:lstStyle/>
                    <a:p>
                      <a:pPr algn="r"/>
                      <a:r>
                        <a:rPr sz="1000" b="0">
                          <a:solidFill>
                            <a:srgbClr val="0F172A"/>
                          </a:solidFill>
                          <a:latin typeface="Calibri"/>
                        </a:rPr>
                        <a:t>~300 milliards</a:t>
                      </a:r>
                    </a:p>
                  </a:txBody>
                  <a:tcPr marL="64008" marR="64008" marT="27432" marB="27432" anchor="ctr">
                    <a:solidFill>
                      <a:srgbClr val="FFFFFF"/>
                    </a:solidFill>
                  </a:tcPr>
                </a:tc>
              </a:tr>
              <a:tr h="384048">
                <a:tc>
                  <a:txBody>
                    <a:bodyPr wrap="square"/>
                    <a:lstStyle/>
                    <a:p>
                      <a:r>
                        <a:rPr sz="1000" b="0">
                          <a:solidFill>
                            <a:srgbClr val="0F172A"/>
                          </a:solidFill>
                          <a:latin typeface="Calibri"/>
                        </a:rPr>
                        <a:t>Gozem</a:t>
                      </a:r>
                    </a:p>
                  </a:txBody>
                  <a:tcPr marL="64008" marR="64008" marT="27432" marB="27432" anchor="ctr">
                    <a:solidFill>
                      <a:srgbClr val="F8FAFC"/>
                    </a:solidFill>
                  </a:tcPr>
                </a:tc>
                <a:tc>
                  <a:txBody>
                    <a:bodyPr wrap="square"/>
                    <a:lstStyle/>
                    <a:p>
                      <a:r>
                        <a:rPr sz="1000" b="0">
                          <a:solidFill>
                            <a:srgbClr val="0F172A"/>
                          </a:solidFill>
                          <a:latin typeface="Calibri"/>
                        </a:rPr>
                        <a:t>Afrique Ouest / Centre</a:t>
                      </a:r>
                    </a:p>
                  </a:txBody>
                  <a:tcPr marL="64008" marR="64008" marT="27432" marB="27432" anchor="ctr">
                    <a:solidFill>
                      <a:srgbClr val="F8FAFC"/>
                    </a:solidFill>
                  </a:tcPr>
                </a:tc>
                <a:tc>
                  <a:txBody>
                    <a:bodyPr wrap="square"/>
                    <a:lstStyle/>
                    <a:p>
                      <a:pPr algn="r"/>
                      <a:r>
                        <a:rPr sz="1000" b="0">
                          <a:solidFill>
                            <a:srgbClr val="0F172A"/>
                          </a:solidFill>
                          <a:latin typeface="Calibri"/>
                        </a:rPr>
                        <a:t>~30 M USD (Série B 2022)</a:t>
                      </a:r>
                    </a:p>
                  </a:txBody>
                  <a:tcPr marL="64008" marR="64008" marT="27432" marB="27432" anchor="ctr">
                    <a:solidFill>
                      <a:srgbClr val="F8FAFC"/>
                    </a:solidFill>
                  </a:tcPr>
                </a:tc>
                <a:tc>
                  <a:txBody>
                    <a:bodyPr wrap="square"/>
                    <a:lstStyle/>
                    <a:p>
                      <a:pPr algn="r"/>
                      <a:r>
                        <a:rPr sz="1000" b="0">
                          <a:solidFill>
                            <a:srgbClr val="0F172A"/>
                          </a:solidFill>
                          <a:latin typeface="Calibri"/>
                        </a:rPr>
                        <a:t>~18 milliards</a:t>
                      </a:r>
                    </a:p>
                  </a:txBody>
                  <a:tcPr marL="64008" marR="64008" marT="27432" marB="27432" anchor="ctr">
                    <a:solidFill>
                      <a:srgbClr val="F8FAFC"/>
                    </a:solidFill>
                  </a:tcPr>
                </a:tc>
              </a:tr>
              <a:tr h="384048">
                <a:tc>
                  <a:txBody>
                    <a:bodyPr wrap="square"/>
                    <a:lstStyle/>
                    <a:p>
                      <a:r>
                        <a:rPr sz="1000" b="0">
                          <a:solidFill>
                            <a:srgbClr val="0F172A"/>
                          </a:solidFill>
                          <a:latin typeface="Calibri"/>
                        </a:rPr>
                        <a:t>SafeBoda</a:t>
                      </a:r>
                    </a:p>
                  </a:txBody>
                  <a:tcPr marL="64008" marR="64008" marT="27432" marB="27432" anchor="ctr">
                    <a:solidFill>
                      <a:srgbClr val="FFFFFF"/>
                    </a:solidFill>
                  </a:tcPr>
                </a:tc>
                <a:tc>
                  <a:txBody>
                    <a:bodyPr wrap="square"/>
                    <a:lstStyle/>
                    <a:p>
                      <a:r>
                        <a:rPr sz="1000" b="0">
                          <a:solidFill>
                            <a:srgbClr val="0F172A"/>
                          </a:solidFill>
                          <a:latin typeface="Calibri"/>
                        </a:rPr>
                        <a:t>Afrique Est</a:t>
                      </a:r>
                    </a:p>
                  </a:txBody>
                  <a:tcPr marL="64008" marR="64008" marT="27432" marB="27432" anchor="ctr">
                    <a:solidFill>
                      <a:srgbClr val="FFFFFF"/>
                    </a:solidFill>
                  </a:tcPr>
                </a:tc>
                <a:tc>
                  <a:txBody>
                    <a:bodyPr wrap="square"/>
                    <a:lstStyle/>
                    <a:p>
                      <a:pPr algn="r"/>
                      <a:r>
                        <a:rPr sz="1000" b="0">
                          <a:solidFill>
                            <a:srgbClr val="0F172A"/>
                          </a:solidFill>
                          <a:latin typeface="Calibri"/>
                        </a:rPr>
                        <a:t>~15 M USD (Série A)</a:t>
                      </a:r>
                    </a:p>
                  </a:txBody>
                  <a:tcPr marL="64008" marR="64008" marT="27432" marB="27432" anchor="ctr">
                    <a:solidFill>
                      <a:srgbClr val="FFFFFF"/>
                    </a:solidFill>
                  </a:tcPr>
                </a:tc>
                <a:tc>
                  <a:txBody>
                    <a:bodyPr wrap="square"/>
                    <a:lstStyle/>
                    <a:p>
                      <a:pPr algn="r"/>
                      <a:r>
                        <a:rPr sz="1000" b="0">
                          <a:solidFill>
                            <a:srgbClr val="0F172A"/>
                          </a:solidFill>
                          <a:latin typeface="Calibri"/>
                        </a:rPr>
                        <a:t>~9 milliards</a:t>
                      </a:r>
                    </a:p>
                  </a:txBody>
                  <a:tcPr marL="64008" marR="64008" marT="27432" marB="27432" anchor="ctr">
                    <a:solidFill>
                      <a:srgbClr val="FFFFFF"/>
                    </a:solidFill>
                  </a:tcPr>
                </a:tc>
              </a:tr>
              <a:tr h="384048">
                <a:tc>
                  <a:txBody>
                    <a:bodyPr wrap="square"/>
                    <a:lstStyle/>
                    <a:p>
                      <a:r>
                        <a:rPr sz="1000" b="0">
                          <a:solidFill>
                            <a:srgbClr val="0F172A"/>
                          </a:solidFill>
                          <a:latin typeface="Calibri"/>
                        </a:rPr>
                        <a:t>Bolt</a:t>
                      </a:r>
                    </a:p>
                  </a:txBody>
                  <a:tcPr marL="64008" marR="64008" marT="27432" marB="27432" anchor="ctr">
                    <a:solidFill>
                      <a:srgbClr val="F8FAFC"/>
                    </a:solidFill>
                  </a:tcPr>
                </a:tc>
                <a:tc>
                  <a:txBody>
                    <a:bodyPr wrap="square"/>
                    <a:lstStyle/>
                    <a:p>
                      <a:r>
                        <a:rPr sz="1000" b="0">
                          <a:solidFill>
                            <a:srgbClr val="0F172A"/>
                          </a:solidFill>
                          <a:latin typeface="Calibri"/>
                        </a:rPr>
                        <a:t>Global — Sénégal, Ghana</a:t>
                      </a:r>
                    </a:p>
                  </a:txBody>
                  <a:tcPr marL="64008" marR="64008" marT="27432" marB="27432" anchor="ctr">
                    <a:solidFill>
                      <a:srgbClr val="F8FAFC"/>
                    </a:solidFill>
                  </a:tcPr>
                </a:tc>
                <a:tc>
                  <a:txBody>
                    <a:bodyPr wrap="square"/>
                    <a:lstStyle/>
                    <a:p>
                      <a:pPr algn="r"/>
                      <a:r>
                        <a:rPr sz="1000" b="0">
                          <a:solidFill>
                            <a:srgbClr val="0F172A"/>
                          </a:solidFill>
                          <a:latin typeface="Calibri"/>
                        </a:rPr>
                        <a:t>~8 milliards USD</a:t>
                      </a:r>
                    </a:p>
                  </a:txBody>
                  <a:tcPr marL="64008" marR="64008" marT="27432" marB="27432" anchor="ctr">
                    <a:solidFill>
                      <a:srgbClr val="F8FAFC"/>
                    </a:solidFill>
                  </a:tcPr>
                </a:tc>
                <a:tc>
                  <a:txBody>
                    <a:bodyPr wrap="square"/>
                    <a:lstStyle/>
                    <a:p>
                      <a:pPr algn="r"/>
                      <a:r>
                        <a:rPr sz="1000" b="0">
                          <a:solidFill>
                            <a:srgbClr val="0F172A"/>
                          </a:solidFill>
                          <a:latin typeface="Calibri"/>
                        </a:rPr>
                        <a:t>~5 000 milliards</a:t>
                      </a:r>
                    </a:p>
                  </a:txBody>
                  <a:tcPr marL="64008" marR="64008" marT="27432" marB="27432" anchor="ctr">
                    <a:solidFill>
                      <a:srgbClr val="F8FAFC"/>
                    </a:solidFill>
                  </a:tcPr>
                </a:tc>
              </a:tr>
              <a:tr h="384048">
                <a:tc>
                  <a:txBody>
                    <a:bodyPr wrap="square"/>
                    <a:lstStyle/>
                    <a:p>
                      <a:r>
                        <a:rPr sz="1000" b="0">
                          <a:solidFill>
                            <a:srgbClr val="0F172A"/>
                          </a:solidFill>
                          <a:latin typeface="Calibri"/>
                        </a:rPr>
                        <a:t>INAS Travel (Masters Services Formation)</a:t>
                      </a:r>
                    </a:p>
                  </a:txBody>
                  <a:tcPr marL="64008" marR="64008" marT="27432" marB="27432" anchor="ctr">
                    <a:solidFill>
                      <a:srgbClr val="FFFFFF"/>
                    </a:solidFill>
                  </a:tcPr>
                </a:tc>
                <a:tc>
                  <a:txBody>
                    <a:bodyPr wrap="square"/>
                    <a:lstStyle/>
                    <a:p>
                      <a:r>
                        <a:rPr sz="1000" b="0">
                          <a:solidFill>
                            <a:srgbClr val="0F172A"/>
                          </a:solidFill>
                          <a:latin typeface="Calibri"/>
                        </a:rPr>
                        <a:t>Locale — Cotonou et destinations du Bénin</a:t>
                      </a:r>
                    </a:p>
                  </a:txBody>
                  <a:tcPr marL="64008" marR="64008" marT="27432" marB="27432" anchor="ctr">
                    <a:solidFill>
                      <a:srgbClr val="FFFFFF"/>
                    </a:solidFill>
                  </a:tcPr>
                </a:tc>
                <a:tc>
                  <a:txBody>
                    <a:bodyPr wrap="square"/>
                    <a:lstStyle/>
                    <a:p>
                      <a:pPr algn="r"/>
                      <a:r>
                        <a:rPr sz="1000" b="0">
                          <a:solidFill>
                            <a:srgbClr val="0F172A"/>
                          </a:solidFill>
                          <a:latin typeface="Calibri"/>
                        </a:rPr>
                        <a:t>Non communiquée</a:t>
                      </a:r>
                    </a:p>
                  </a:txBody>
                  <a:tcPr marL="64008" marR="64008" marT="27432" marB="27432" anchor="ctr">
                    <a:solidFill>
                      <a:srgbClr val="FFFFFF"/>
                    </a:solidFill>
                  </a:tcPr>
                </a:tc>
                <a:tc>
                  <a:txBody>
                    <a:bodyPr wrap="square"/>
                    <a:lstStyle/>
                    <a:p>
                      <a:pPr algn="r"/>
                      <a:r>
                        <a:rPr sz="1000" b="0">
                          <a:solidFill>
                            <a:srgbClr val="0F172A"/>
                          </a:solidFill>
                          <a:latin typeface="Calibri"/>
                        </a:rPr>
                        <a:t>—</a:t>
                      </a:r>
                    </a:p>
                  </a:txBody>
                  <a:tcPr marL="64008" marR="64008" marT="27432" marB="27432" anchor="ctr">
                    <a:solidFill>
                      <a:srgbClr val="FFFFFF"/>
                    </a:solidFill>
                  </a:tcPr>
                </a:tc>
              </a:tr>
              <a:tr h="384048">
                <a:tc>
                  <a:txBody>
                    <a:bodyPr wrap="square"/>
                    <a:lstStyle/>
                    <a:p>
                      <a:r>
                        <a:rPr sz="1000" b="0">
                          <a:solidFill>
                            <a:srgbClr val="0F172A"/>
                          </a:solidFill>
                          <a:latin typeface="Calibri"/>
                        </a:rPr>
                        <a:t>inDrive (international)</a:t>
                      </a:r>
                    </a:p>
                  </a:txBody>
                  <a:tcPr marL="64008" marR="64008" marT="27432" marB="27432" anchor="ctr">
                    <a:solidFill>
                      <a:srgbClr val="F8FAFC"/>
                    </a:solidFill>
                  </a:tcPr>
                </a:tc>
                <a:tc>
                  <a:txBody>
                    <a:bodyPr wrap="square"/>
                    <a:lstStyle/>
                    <a:p>
                      <a:r>
                        <a:rPr sz="1000" b="0">
                          <a:solidFill>
                            <a:srgbClr val="0F172A"/>
                          </a:solidFill>
                          <a:latin typeface="Calibri"/>
                        </a:rPr>
                        <a:t>Global — présent à Cotonou en moto</a:t>
                      </a:r>
                    </a:p>
                  </a:txBody>
                  <a:tcPr marL="64008" marR="64008" marT="27432" marB="27432" anchor="ctr">
                    <a:solidFill>
                      <a:srgbClr val="F8FAFC"/>
                    </a:solidFill>
                  </a:tcPr>
                </a:tc>
                <a:tc>
                  <a:txBody>
                    <a:bodyPr wrap="square"/>
                    <a:lstStyle/>
                    <a:p>
                      <a:pPr algn="r"/>
                      <a:r>
                        <a:rPr sz="1000" b="0">
                          <a:solidFill>
                            <a:srgbClr val="0F172A"/>
                          </a:solidFill>
                          <a:latin typeface="Calibri"/>
                        </a:rPr>
                        <a:t>Non relevée</a:t>
                      </a:r>
                    </a:p>
                  </a:txBody>
                  <a:tcPr marL="64008" marR="64008" marT="27432" marB="27432" anchor="ctr">
                    <a:solidFill>
                      <a:srgbClr val="F8FAFC"/>
                    </a:solidFill>
                  </a:tcPr>
                </a:tc>
                <a:tc>
                  <a:txBody>
                    <a:bodyPr wrap="square"/>
                    <a:lstStyle/>
                    <a:p>
                      <a:pPr algn="r"/>
                      <a:r>
                        <a:rPr sz="1000" b="0">
                          <a:solidFill>
                            <a:srgbClr val="0F172A"/>
                          </a:solidFill>
                          <a:latin typeface="Calibri"/>
                        </a:rPr>
                        <a:t>—</a:t>
                      </a:r>
                    </a:p>
                  </a:txBody>
                  <a:tcPr marL="64008" marR="64008" marT="27432" marB="27432" anchor="ctr">
                    <a:solidFill>
                      <a:srgbClr val="F8FAFC"/>
                    </a:solidFill>
                  </a:tcPr>
                </a:tc>
              </a:tr>
              <a:tr h="384048">
                <a:tc>
                  <a:txBody>
                    <a:bodyPr wrap="square"/>
                    <a:lstStyle/>
                    <a:p>
                      <a:r>
                        <a:rPr sz="1000" b="0">
                          <a:solidFill>
                            <a:srgbClr val="0F172A"/>
                          </a:solidFill>
                          <a:latin typeface="Calibri"/>
                        </a:rPr>
                        <a:t>4U / For You (CIL&amp;ASSOCIÉS)</a:t>
                      </a:r>
                    </a:p>
                  </a:txBody>
                  <a:tcPr marL="64008" marR="64008" marT="27432" marB="27432" anchor="ctr">
                    <a:solidFill>
                      <a:srgbClr val="FFFFFF"/>
                    </a:solidFill>
                  </a:tcPr>
                </a:tc>
                <a:tc>
                  <a:txBody>
                    <a:bodyPr wrap="square"/>
                    <a:lstStyle/>
                    <a:p>
                      <a:r>
                        <a:rPr sz="1000" b="0">
                          <a:solidFill>
                            <a:srgbClr val="0F172A"/>
                          </a:solidFill>
                          <a:latin typeface="Calibri"/>
                        </a:rPr>
                        <a:t>Locale — Cotonou, Abomey-Calavi</a:t>
                      </a:r>
                    </a:p>
                  </a:txBody>
                  <a:tcPr marL="64008" marR="64008" marT="27432" marB="27432" anchor="ctr">
                    <a:solidFill>
                      <a:srgbClr val="FFFFFF"/>
                    </a:solidFill>
                  </a:tcPr>
                </a:tc>
                <a:tc>
                  <a:txBody>
                    <a:bodyPr wrap="square"/>
                    <a:lstStyle/>
                    <a:p>
                      <a:pPr algn="r"/>
                      <a:r>
                        <a:rPr sz="1000" b="0">
                          <a:solidFill>
                            <a:srgbClr val="0F172A"/>
                          </a:solidFill>
                          <a:latin typeface="Calibri"/>
                        </a:rPr>
                        <a:t>Non communiquée</a:t>
                      </a:r>
                    </a:p>
                  </a:txBody>
                  <a:tcPr marL="64008" marR="64008" marT="27432" marB="27432" anchor="ctr">
                    <a:solidFill>
                      <a:srgbClr val="FFFFFF"/>
                    </a:solidFill>
                  </a:tcPr>
                </a:tc>
                <a:tc>
                  <a:txBody>
                    <a:bodyPr wrap="square"/>
                    <a:lstStyle/>
                    <a:p>
                      <a:pPr algn="r"/>
                      <a:r>
                        <a:rPr sz="1000" b="0">
                          <a:solidFill>
                            <a:srgbClr val="0F172A"/>
                          </a:solidFill>
                          <a:latin typeface="Calibri"/>
                        </a:rPr>
                        <a:t>—</a:t>
                      </a:r>
                    </a:p>
                  </a:txBody>
                  <a:tcPr marL="64008" marR="64008" marT="27432" marB="27432" anchor="ctr">
                    <a:solidFill>
                      <a:srgbClr val="FFFFFF"/>
                    </a:solidFill>
                  </a:tcPr>
                </a:tc>
              </a:tr>
            </a:tbl>
          </a:graphicData>
        </a:graphic>
      </p:graphicFrame>
      <p:sp>
        <p:nvSpPr>
          <p:cNvPr id="11" name="TextBox 10"/>
          <p:cNvSpPr txBox="1"/>
          <p:nvPr/>
        </p:nvSpPr>
        <p:spPr>
          <a:xfrm>
            <a:off x="640080" y="4617720"/>
            <a:ext cx="10908792" cy="1371600"/>
          </a:xfrm>
          <a:prstGeom prst="rect">
            <a:avLst/>
          </a:prstGeom>
          <a:noFill/>
        </p:spPr>
        <p:txBody>
          <a:bodyPr wrap="square" lIns="36576" rIns="36576" tIns="18288" bIns="18288">
            <a:spAutoFit/>
          </a:bodyPr>
          <a:lstStyle/>
          <a:p>
            <a:pPr>
              <a:spcAft>
                <a:spcPts val="300"/>
              </a:spcAft>
            </a:pPr>
            <a:r>
              <a:rPr sz="1000" b="0">
                <a:solidFill>
                  <a:srgbClr val="64748B"/>
                </a:solidFill>
                <a:latin typeface="Calibri"/>
              </a:rPr>
              <a:t>Trois acteurs récents sont présents à Cotonou. INAS Travel (application publiée en juin 2026) et 4U (For You) n'ont communiqué aucune valorisation : INAS pratique, en course courte, des prix supérieurs de 85 % à ceux de TamCar en voiture ordinaire (925 F contre 500 F, relevé d'octobre 2026) ; 4U, dont l'audience reste modeste (plus de 1 000 installations par application, 12 avis), est de 8 à 71 % plus chère que TamCar sur 5,6 km (relevé en application du 21 octobre 2026). inDrive n'est présente qu'en moto à Cotonou.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08</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Propriété intellectuelle</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Chaîne de titularité et attestations</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11 / 15</a:t>
            </a:r>
          </a:p>
        </p:txBody>
      </p:sp>
      <p:graphicFrame>
        <p:nvGraphicFramePr>
          <p:cNvPr id="10" name="Table 9"/>
          <p:cNvGraphicFramePr>
            <a:graphicFrameLocks noGrp="1"/>
          </p:cNvGraphicFramePr>
          <p:nvPr/>
        </p:nvGraphicFramePr>
        <p:xfrm>
          <a:off x="640080" y="1325880"/>
          <a:ext cx="6583680" cy="3566160"/>
        </p:xfrm>
        <a:graphic>
          <a:graphicData uri="http://schemas.openxmlformats.org/drawingml/2006/table">
            <a:tbl>
              <a:tblPr firstRow="1" bandRow="1">
                <a:tableStyleId>{5C22544A-7EE6-4342-B048-85BDC9FD1C3A}</a:tableStyleId>
              </a:tblPr>
              <a:tblGrid>
                <a:gridCol w="1463040"/>
                <a:gridCol w="5120640"/>
              </a:tblGrid>
              <a:tr h="713232">
                <a:tc>
                  <a:txBody>
                    <a:bodyPr wrap="square"/>
                    <a:lstStyle/>
                    <a:p>
                      <a:r>
                        <a:rPr sz="1000" b="1">
                          <a:solidFill>
                            <a:srgbClr val="FFFFFF"/>
                          </a:solidFill>
                          <a:latin typeface="Calibri"/>
                        </a:rPr>
                        <a:t>Étape</a:t>
                      </a:r>
                    </a:p>
                  </a:txBody>
                  <a:tcPr marL="64008" marR="64008" marT="27432" marB="27432" anchor="ctr">
                    <a:solidFill>
                      <a:srgbClr val="1E3A8A"/>
                    </a:solidFill>
                  </a:tcPr>
                </a:tc>
                <a:tc>
                  <a:txBody>
                    <a:bodyPr wrap="square"/>
                    <a:lstStyle/>
                    <a:p>
                      <a:r>
                        <a:rPr sz="1000" b="1">
                          <a:solidFill>
                            <a:srgbClr val="FFFFFF"/>
                          </a:solidFill>
                          <a:latin typeface="Calibri"/>
                        </a:rPr>
                        <a:t>Fait</a:t>
                      </a:r>
                    </a:p>
                  </a:txBody>
                  <a:tcPr marL="64008" marR="64008" marT="27432" marB="27432" anchor="ctr">
                    <a:solidFill>
                      <a:srgbClr val="1E3A8A"/>
                    </a:solidFill>
                  </a:tcPr>
                </a:tc>
              </a:tr>
              <a:tr h="713232">
                <a:tc>
                  <a:txBody>
                    <a:bodyPr wrap="square"/>
                    <a:lstStyle/>
                    <a:p>
                      <a:r>
                        <a:rPr sz="1000" b="0">
                          <a:solidFill>
                            <a:srgbClr val="0F172A"/>
                          </a:solidFill>
                          <a:latin typeface="Calibri"/>
                        </a:rPr>
                        <a:t>1 · Création</a:t>
                      </a:r>
                    </a:p>
                  </a:txBody>
                  <a:tcPr marL="64008" marR="64008" marT="27432" marB="27432" anchor="ctr">
                    <a:solidFill>
                      <a:srgbClr val="FFFFFF"/>
                    </a:solidFill>
                  </a:tcPr>
                </a:tc>
                <a:tc>
                  <a:txBody>
                    <a:bodyPr wrap="square"/>
                    <a:lstStyle/>
                    <a:p>
                      <a:r>
                        <a:rPr sz="1000" b="0">
                          <a:solidFill>
                            <a:srgbClr val="0F172A"/>
                          </a:solidFill>
                          <a:latin typeface="Calibri"/>
                        </a:rPr>
                        <a:t>T. B. R. QUENUM, personne physique, conçoit et développe la plateforme de novembre 2025 au 7 octobre 2026.</a:t>
                      </a:r>
                    </a:p>
                  </a:txBody>
                  <a:tcPr marL="64008" marR="64008" marT="27432" marB="27432" anchor="ctr">
                    <a:solidFill>
                      <a:srgbClr val="FFFFFF"/>
                    </a:solidFill>
                  </a:tcPr>
                </a:tc>
              </a:tr>
              <a:tr h="713232">
                <a:tc>
                  <a:txBody>
                    <a:bodyPr wrap="square"/>
                    <a:lstStyle/>
                    <a:p>
                      <a:r>
                        <a:rPr sz="1000" b="0">
                          <a:solidFill>
                            <a:srgbClr val="0F172A"/>
                          </a:solidFill>
                          <a:latin typeface="Calibri"/>
                        </a:rPr>
                        <a:t>2 · Cession en apport</a:t>
                      </a:r>
                    </a:p>
                  </a:txBody>
                  <a:tcPr marL="64008" marR="64008" marT="27432" marB="27432" anchor="ctr">
                    <a:solidFill>
                      <a:srgbClr val="F8FAFC"/>
                    </a:solidFill>
                  </a:tcPr>
                </a:tc>
                <a:tc>
                  <a:txBody>
                    <a:bodyPr wrap="square"/>
                    <a:lstStyle/>
                    <a:p>
                      <a:r>
                        <a:rPr sz="1000" b="0">
                          <a:solidFill>
                            <a:srgbClr val="0F172A"/>
                          </a:solidFill>
                          <a:latin typeface="Calibri"/>
                        </a:rPr>
                        <a:t>Par acte, il cède à BENAEL, en apport en nature, ses droits patrimoniaux sur ces travaux (pièce 8).</a:t>
                      </a:r>
                    </a:p>
                  </a:txBody>
                  <a:tcPr marL="64008" marR="64008" marT="27432" marB="27432" anchor="ctr">
                    <a:solidFill>
                      <a:srgbClr val="F8FAFC"/>
                    </a:solidFill>
                  </a:tcPr>
                </a:tc>
              </a:tr>
              <a:tr h="713232">
                <a:tc>
                  <a:txBody>
                    <a:bodyPr wrap="square"/>
                    <a:lstStyle/>
                    <a:p>
                      <a:r>
                        <a:rPr sz="1000" b="0">
                          <a:solidFill>
                            <a:srgbClr val="0F172A"/>
                          </a:solidFill>
                          <a:latin typeface="Calibri"/>
                        </a:rPr>
                        <a:t>3 · Poursuite</a:t>
                      </a:r>
                    </a:p>
                  </a:txBody>
                  <a:tcPr marL="64008" marR="64008" marT="27432" marB="27432" anchor="ctr">
                    <a:solidFill>
                      <a:srgbClr val="FFFFFF"/>
                    </a:solidFill>
                  </a:tcPr>
                </a:tc>
                <a:tc>
                  <a:txBody>
                    <a:bodyPr wrap="square"/>
                    <a:lstStyle/>
                    <a:p>
                      <a:r>
                        <a:rPr sz="1000" b="0">
                          <a:solidFill>
                            <a:srgbClr val="0F172A"/>
                          </a:solidFill>
                          <a:latin typeface="Calibri"/>
                        </a:rPr>
                        <a:t>BENAEL (RCCM du 8 octobre 2026) poursuit le développement sous sa responsabilité.</a:t>
                      </a:r>
                    </a:p>
                  </a:txBody>
                  <a:tcPr marL="64008" marR="64008" marT="27432" marB="27432" anchor="ctr">
                    <a:solidFill>
                      <a:srgbClr val="FFFFFF"/>
                    </a:solidFill>
                  </a:tcPr>
                </a:tc>
              </a:tr>
              <a:tr h="713232">
                <a:tc>
                  <a:txBody>
                    <a:bodyPr wrap="square"/>
                    <a:lstStyle/>
                    <a:p>
                      <a:r>
                        <a:rPr sz="1000" b="0">
                          <a:solidFill>
                            <a:srgbClr val="0F172A"/>
                          </a:solidFill>
                          <a:latin typeface="Calibri"/>
                        </a:rPr>
                        <a:t>4 · Apport</a:t>
                      </a:r>
                    </a:p>
                  </a:txBody>
                  <a:tcPr marL="64008" marR="64008" marT="27432" marB="27432" anchor="ctr">
                    <a:solidFill>
                      <a:srgbClr val="F8FAFC"/>
                    </a:solidFill>
                  </a:tcPr>
                </a:tc>
                <a:tc>
                  <a:txBody>
                    <a:bodyPr wrap="square"/>
                    <a:lstStyle/>
                    <a:p>
                      <a:r>
                        <a:rPr sz="1000" b="0">
                          <a:solidFill>
                            <a:srgbClr val="0F172A"/>
                          </a:solidFill>
                          <a:latin typeface="Calibri"/>
                        </a:rPr>
                        <a:t>BENAEL apporte à Tam Logistics SARL les droits de l'annexe 1, en échange de 60 % du capital.</a:t>
                      </a:r>
                    </a:p>
                  </a:txBody>
                  <a:tcPr marL="64008" marR="64008" marT="27432" marB="27432" anchor="ctr">
                    <a:solidFill>
                      <a:srgbClr val="F8FAFC"/>
                    </a:solidFill>
                  </a:tcPr>
                </a:tc>
              </a:tr>
            </a:tbl>
          </a:graphicData>
        </a:graphic>
      </p:graphicFrame>
      <p:sp>
        <p:nvSpPr>
          <p:cNvPr id="11" name="Rounded Rectangle 10"/>
          <p:cNvSpPr/>
          <p:nvPr/>
        </p:nvSpPr>
        <p:spPr>
          <a:xfrm>
            <a:off x="7498079" y="1325880"/>
            <a:ext cx="4050791" cy="429768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35240" y="1399032"/>
            <a:ext cx="3776472" cy="274320"/>
          </a:xfrm>
          <a:prstGeom prst="rect">
            <a:avLst/>
          </a:prstGeom>
          <a:noFill/>
        </p:spPr>
        <p:txBody>
          <a:bodyPr wrap="square" lIns="36576" rIns="36576" tIns="18288" bIns="18288">
            <a:spAutoFit/>
          </a:bodyPr>
          <a:lstStyle/>
          <a:p>
            <a:pPr>
              <a:spcAft>
                <a:spcPts val="300"/>
              </a:spcAft>
            </a:pPr>
            <a:r>
              <a:rPr sz="1150" b="1">
                <a:solidFill>
                  <a:srgbClr val="1E3A8A"/>
                </a:solidFill>
                <a:latin typeface="Calibri"/>
              </a:rPr>
              <a:t>Déclarations de l'apporteur</a:t>
            </a:r>
          </a:p>
        </p:txBody>
      </p:sp>
      <p:sp>
        <p:nvSpPr>
          <p:cNvPr id="13" name="TextBox 12"/>
          <p:cNvSpPr txBox="1"/>
          <p:nvPr/>
        </p:nvSpPr>
        <p:spPr>
          <a:xfrm>
            <a:off x="7635240" y="1709928"/>
            <a:ext cx="3776472" cy="3840480"/>
          </a:xfrm>
          <a:prstGeom prst="rect">
            <a:avLst/>
          </a:prstGeom>
          <a:noFill/>
        </p:spPr>
        <p:txBody>
          <a:bodyPr wrap="square" lIns="36576" rIns="36576" tIns="18288" bIns="18288">
            <a:spAutoFit/>
          </a:bodyPr>
          <a:lstStyle/>
          <a:p>
            <a:pPr>
              <a:spcAft>
                <a:spcPts val="300"/>
              </a:spcAft>
            </a:pPr>
            <a:r>
              <a:rPr sz="1050" b="0">
                <a:solidFill>
                  <a:srgbClr val="0F172A"/>
                </a:solidFill>
                <a:latin typeface="Calibri"/>
              </a:rPr>
              <a:t>• Pleine propriété des droits sur l'annexe 1
• Aucun engagement de sous-traitance, cession ou licence exclusive
• Aucun composant « copyleft » ; données de lieux issues d'OpenStreetMap (ODbL)
• Conception, direction et relecture par le gérant, avec outils d'IA pour la rédaction du code
• Garantie d'éviction et d'usage paisible</a:t>
            </a:r>
          </a:p>
        </p:txBody>
      </p:sp>
      <p:sp>
        <p:nvSpPr>
          <p:cNvPr id="14" name="TextBox 13"/>
          <p:cNvSpPr txBox="1"/>
          <p:nvPr/>
        </p:nvSpPr>
        <p:spPr>
          <a:xfrm>
            <a:off x="640080" y="5074920"/>
            <a:ext cx="6583680" cy="731520"/>
          </a:xfrm>
          <a:prstGeom prst="rect">
            <a:avLst/>
          </a:prstGeom>
          <a:noFill/>
        </p:spPr>
        <p:txBody>
          <a:bodyPr wrap="square" lIns="36576" rIns="36576" tIns="18288" bIns="18288">
            <a:spAutoFit/>
          </a:bodyPr>
          <a:lstStyle/>
          <a:p>
            <a:pPr>
              <a:spcAft>
                <a:spcPts val="300"/>
              </a:spcAft>
            </a:pPr>
            <a:r>
              <a:rPr sz="1000" b="0">
                <a:solidFill>
                  <a:srgbClr val="64748B"/>
                </a:solidFill>
                <a:latin typeface="Calibri"/>
              </a:rPr>
              <a:t>Dépôt Git privé : historique horodaté depuis le 13 juillet 2026 (plus de 450 commits). Travaux antérieurs justifiés par les pièces 4 et 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08</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Documents mis à disposition</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Pièces remises au Commissaire aux Apports</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12 / 15</a:t>
            </a:r>
          </a:p>
        </p:txBody>
      </p:sp>
      <p:graphicFrame>
        <p:nvGraphicFramePr>
          <p:cNvPr id="10" name="Table 9"/>
          <p:cNvGraphicFramePr>
            <a:graphicFrameLocks noGrp="1"/>
          </p:cNvGraphicFramePr>
          <p:nvPr/>
        </p:nvGraphicFramePr>
        <p:xfrm>
          <a:off x="640080" y="1325880"/>
          <a:ext cx="10908790" cy="4325112"/>
        </p:xfrm>
        <a:graphic>
          <a:graphicData uri="http://schemas.openxmlformats.org/drawingml/2006/table">
            <a:tbl>
              <a:tblPr firstRow="1" bandRow="1">
                <a:tableStyleId>{5C22544A-7EE6-4342-B048-85BDC9FD1C3A}</a:tableStyleId>
              </a:tblPr>
              <a:tblGrid>
                <a:gridCol w="458352"/>
                <a:gridCol w="7516982"/>
                <a:gridCol w="2933456"/>
              </a:tblGrid>
              <a:tr h="393192">
                <a:tc>
                  <a:txBody>
                    <a:bodyPr wrap="square"/>
                    <a:lstStyle/>
                    <a:p>
                      <a:r>
                        <a:rPr sz="1050" b="1">
                          <a:solidFill>
                            <a:srgbClr val="FFFFFF"/>
                          </a:solidFill>
                          <a:latin typeface="Calibri"/>
                        </a:rPr>
                        <a:t>#</a:t>
                      </a:r>
                    </a:p>
                  </a:txBody>
                  <a:tcPr marL="64008" marR="64008" marT="27432" marB="27432" anchor="ctr">
                    <a:solidFill>
                      <a:srgbClr val="1E3A8A"/>
                    </a:solidFill>
                  </a:tcPr>
                </a:tc>
                <a:tc>
                  <a:txBody>
                    <a:bodyPr wrap="square"/>
                    <a:lstStyle/>
                    <a:p>
                      <a:r>
                        <a:rPr sz="1050" b="1">
                          <a:solidFill>
                            <a:srgbClr val="FFFFFF"/>
                          </a:solidFill>
                          <a:latin typeface="Calibri"/>
                        </a:rPr>
                        <a:t>Document</a:t>
                      </a:r>
                    </a:p>
                  </a:txBody>
                  <a:tcPr marL="64008" marR="64008" marT="27432" marB="27432" anchor="ctr">
                    <a:solidFill>
                      <a:srgbClr val="1E3A8A"/>
                    </a:solidFill>
                  </a:tcPr>
                </a:tc>
                <a:tc>
                  <a:txBody>
                    <a:bodyPr wrap="square"/>
                    <a:lstStyle/>
                    <a:p>
                      <a:r>
                        <a:rPr sz="1050" b="1">
                          <a:solidFill>
                            <a:srgbClr val="FFFFFF"/>
                          </a:solidFill>
                          <a:latin typeface="Calibri"/>
                        </a:rPr>
                        <a:t>Forme</a:t>
                      </a:r>
                    </a:p>
                  </a:txBody>
                  <a:tcPr marL="64008" marR="64008" marT="27432" marB="27432" anchor="ctr">
                    <a:solidFill>
                      <a:srgbClr val="1E3A8A"/>
                    </a:solidFill>
                  </a:tcPr>
                </a:tc>
              </a:tr>
              <a:tr h="393192">
                <a:tc>
                  <a:txBody>
                    <a:bodyPr wrap="square"/>
                    <a:lstStyle/>
                    <a:p>
                      <a:r>
                        <a:rPr sz="1050" b="0">
                          <a:solidFill>
                            <a:srgbClr val="0F172A"/>
                          </a:solidFill>
                          <a:latin typeface="Calibri"/>
                        </a:rPr>
                        <a:t>1</a:t>
                      </a:r>
                    </a:p>
                  </a:txBody>
                  <a:tcPr marL="64008" marR="64008" marT="27432" marB="27432" anchor="ctr">
                    <a:solidFill>
                      <a:srgbClr val="FFFFFF"/>
                    </a:solidFill>
                  </a:tcPr>
                </a:tc>
                <a:tc>
                  <a:txBody>
                    <a:bodyPr wrap="square"/>
                    <a:lstStyle/>
                    <a:p>
                      <a:r>
                        <a:rPr sz="1050" b="0">
                          <a:solidFill>
                            <a:srgbClr val="0F172A"/>
                          </a:solidFill>
                          <a:latin typeface="Calibri"/>
                        </a:rPr>
                        <a:t>Archive du code source et historique Git détaillé</a:t>
                      </a:r>
                    </a:p>
                  </a:txBody>
                  <a:tcPr marL="64008" marR="64008" marT="27432" marB="27432" anchor="ctr">
                    <a:solidFill>
                      <a:srgbClr val="FFFFFF"/>
                    </a:solidFill>
                  </a:tcPr>
                </a:tc>
                <a:tc>
                  <a:txBody>
                    <a:bodyPr wrap="square"/>
                    <a:lstStyle/>
                    <a:p>
                      <a:r>
                        <a:rPr sz="1050" b="0">
                          <a:solidFill>
                            <a:srgbClr val="0F172A"/>
                          </a:solidFill>
                          <a:latin typeface="Calibri"/>
                        </a:rPr>
                        <a:t>Fichier .zip et export texte</a:t>
                      </a:r>
                    </a:p>
                  </a:txBody>
                  <a:tcPr marL="64008" marR="64008" marT="27432" marB="27432" anchor="ctr">
                    <a:solidFill>
                      <a:srgbClr val="FFFFFF"/>
                    </a:solidFill>
                  </a:tcPr>
                </a:tc>
              </a:tr>
              <a:tr h="393192">
                <a:tc>
                  <a:txBody>
                    <a:bodyPr wrap="square"/>
                    <a:lstStyle/>
                    <a:p>
                      <a:r>
                        <a:rPr sz="1050" b="0">
                          <a:solidFill>
                            <a:srgbClr val="0F172A"/>
                          </a:solidFill>
                          <a:latin typeface="Calibri"/>
                        </a:rPr>
                        <a:t>2</a:t>
                      </a:r>
                    </a:p>
                  </a:txBody>
                  <a:tcPr marL="64008" marR="64008" marT="27432" marB="27432" anchor="ctr">
                    <a:solidFill>
                      <a:srgbClr val="F8FAFC"/>
                    </a:solidFill>
                  </a:tcPr>
                </a:tc>
                <a:tc>
                  <a:txBody>
                    <a:bodyPr wrap="square"/>
                    <a:lstStyle/>
                    <a:p>
                      <a:r>
                        <a:rPr sz="1050" b="0">
                          <a:solidFill>
                            <a:srgbClr val="0F172A"/>
                          </a:solidFill>
                          <a:latin typeface="Calibri"/>
                        </a:rPr>
                        <a:t>Accès démonstration aux applications déployées</a:t>
                      </a:r>
                    </a:p>
                  </a:txBody>
                  <a:tcPr marL="64008" marR="64008" marT="27432" marB="27432" anchor="ctr">
                    <a:solidFill>
                      <a:srgbClr val="F8FAFC"/>
                    </a:solidFill>
                  </a:tcPr>
                </a:tc>
                <a:tc>
                  <a:txBody>
                    <a:bodyPr wrap="square"/>
                    <a:lstStyle/>
                    <a:p>
                      <a:r>
                        <a:rPr sz="1050" b="0">
                          <a:solidFill>
                            <a:srgbClr val="0F172A"/>
                          </a:solidFill>
                          <a:latin typeface="Calibri"/>
                        </a:rPr>
                        <a:t>URLs et comptes de test</a:t>
                      </a:r>
                    </a:p>
                  </a:txBody>
                  <a:tcPr marL="64008" marR="64008" marT="27432" marB="27432" anchor="ctr">
                    <a:solidFill>
                      <a:srgbClr val="F8FAFC"/>
                    </a:solidFill>
                  </a:tcPr>
                </a:tc>
              </a:tr>
              <a:tr h="393192">
                <a:tc>
                  <a:txBody>
                    <a:bodyPr wrap="square"/>
                    <a:lstStyle/>
                    <a:p>
                      <a:r>
                        <a:rPr sz="1050" b="0">
                          <a:solidFill>
                            <a:srgbClr val="0F172A"/>
                          </a:solidFill>
                          <a:latin typeface="Calibri"/>
                        </a:rPr>
                        <a:t>3</a:t>
                      </a:r>
                    </a:p>
                  </a:txBody>
                  <a:tcPr marL="64008" marR="64008" marT="27432" marB="27432" anchor="ctr">
                    <a:solidFill>
                      <a:srgbClr val="FFFFFF"/>
                    </a:solidFill>
                  </a:tcPr>
                </a:tc>
                <a:tc>
                  <a:txBody>
                    <a:bodyPr wrap="square"/>
                    <a:lstStyle/>
                    <a:p>
                      <a:r>
                        <a:rPr sz="1050" b="0">
                          <a:solidFill>
                            <a:srgbClr val="0F172A"/>
                          </a:solidFill>
                          <a:latin typeface="Calibri"/>
                        </a:rPr>
                        <a:t>Relevé de temps ventilé par domaine technique</a:t>
                      </a:r>
                    </a:p>
                  </a:txBody>
                  <a:tcPr marL="64008" marR="64008" marT="27432" marB="27432" anchor="ctr">
                    <a:solidFill>
                      <a:srgbClr val="FFFFFF"/>
                    </a:solidFill>
                  </a:tcPr>
                </a:tc>
                <a:tc>
                  <a:txBody>
                    <a:bodyPr wrap="square"/>
                    <a:lstStyle/>
                    <a:p>
                      <a:r>
                        <a:rPr sz="1050" b="0">
                          <a:solidFill>
                            <a:srgbClr val="0F172A"/>
                          </a:solidFill>
                          <a:latin typeface="Calibri"/>
                        </a:rPr>
                        <a:t>Tableau signé</a:t>
                      </a:r>
                    </a:p>
                  </a:txBody>
                  <a:tcPr marL="64008" marR="64008" marT="27432" marB="27432" anchor="ctr">
                    <a:solidFill>
                      <a:srgbClr val="FFFFFF"/>
                    </a:solidFill>
                  </a:tcPr>
                </a:tc>
              </a:tr>
              <a:tr h="393192">
                <a:tc>
                  <a:txBody>
                    <a:bodyPr wrap="square"/>
                    <a:lstStyle/>
                    <a:p>
                      <a:r>
                        <a:rPr sz="1050" b="0">
                          <a:solidFill>
                            <a:srgbClr val="0F172A"/>
                          </a:solidFill>
                          <a:latin typeface="Calibri"/>
                        </a:rPr>
                        <a:t>4</a:t>
                      </a:r>
                    </a:p>
                  </a:txBody>
                  <a:tcPr marL="64008" marR="64008" marT="27432" marB="27432" anchor="ctr">
                    <a:solidFill>
                      <a:srgbClr val="F8FAFC"/>
                    </a:solidFill>
                  </a:tcPr>
                </a:tc>
                <a:tc>
                  <a:txBody>
                    <a:bodyPr wrap="square"/>
                    <a:lstStyle/>
                    <a:p>
                      <a:r>
                        <a:rPr sz="1050" b="0">
                          <a:solidFill>
                            <a:srgbClr val="0F172A"/>
                          </a:solidFill>
                          <a:latin typeface="Calibri"/>
                        </a:rPr>
                        <a:t>Pièces des travaux de novembre 2025 à juillet 2026 (prototypes, maquettes, cadrage)</a:t>
                      </a:r>
                    </a:p>
                  </a:txBody>
                  <a:tcPr marL="64008" marR="64008" marT="27432" marB="27432" anchor="ctr">
                    <a:solidFill>
                      <a:srgbClr val="F8FAFC"/>
                    </a:solidFill>
                  </a:tcPr>
                </a:tc>
                <a:tc>
                  <a:txBody>
                    <a:bodyPr wrap="square"/>
                    <a:lstStyle/>
                    <a:p>
                      <a:r>
                        <a:rPr sz="1050" b="0">
                          <a:solidFill>
                            <a:srgbClr val="0F172A"/>
                          </a:solidFill>
                          <a:latin typeface="Calibri"/>
                        </a:rPr>
                        <a:t>Fichiers datés</a:t>
                      </a:r>
                    </a:p>
                  </a:txBody>
                  <a:tcPr marL="64008" marR="64008" marT="27432" marB="27432" anchor="ctr">
                    <a:solidFill>
                      <a:srgbClr val="F8FAFC"/>
                    </a:solidFill>
                  </a:tcPr>
                </a:tc>
              </a:tr>
              <a:tr h="393192">
                <a:tc>
                  <a:txBody>
                    <a:bodyPr wrap="square"/>
                    <a:lstStyle/>
                    <a:p>
                      <a:r>
                        <a:rPr sz="1050" b="0">
                          <a:solidFill>
                            <a:srgbClr val="0F172A"/>
                          </a:solidFill>
                          <a:latin typeface="Calibri"/>
                        </a:rPr>
                        <a:t>5</a:t>
                      </a:r>
                    </a:p>
                  </a:txBody>
                  <a:tcPr marL="64008" marR="64008" marT="27432" marB="27432" anchor="ctr">
                    <a:solidFill>
                      <a:srgbClr val="FFFFFF"/>
                    </a:solidFill>
                  </a:tcPr>
                </a:tc>
                <a:tc>
                  <a:txBody>
                    <a:bodyPr wrap="square"/>
                    <a:lstStyle/>
                    <a:p>
                      <a:r>
                        <a:rPr sz="1050" b="0">
                          <a:solidFill>
                            <a:srgbClr val="0F172A"/>
                          </a:solidFill>
                          <a:latin typeface="Calibri"/>
                        </a:rPr>
                        <a:t>Brief de marque, charte graphique, documentation technique, roadmap</a:t>
                      </a:r>
                    </a:p>
                  </a:txBody>
                  <a:tcPr marL="64008" marR="64008" marT="27432" marB="27432" anchor="ctr">
                    <a:solidFill>
                      <a:srgbClr val="FFFFFF"/>
                    </a:solidFill>
                  </a:tcPr>
                </a:tc>
                <a:tc>
                  <a:txBody>
                    <a:bodyPr wrap="square"/>
                    <a:lstStyle/>
                    <a:p>
                      <a:r>
                        <a:rPr sz="1050" b="0">
                          <a:solidFill>
                            <a:srgbClr val="0F172A"/>
                          </a:solidFill>
                          <a:latin typeface="Calibri"/>
                        </a:rPr>
                        <a:t>PDF et .docx</a:t>
                      </a:r>
                    </a:p>
                  </a:txBody>
                  <a:tcPr marL="64008" marR="64008" marT="27432" marB="27432" anchor="ctr">
                    <a:solidFill>
                      <a:srgbClr val="FFFFFF"/>
                    </a:solidFill>
                  </a:tcPr>
                </a:tc>
              </a:tr>
              <a:tr h="393192">
                <a:tc>
                  <a:txBody>
                    <a:bodyPr wrap="square"/>
                    <a:lstStyle/>
                    <a:p>
                      <a:r>
                        <a:rPr sz="1050" b="0">
                          <a:solidFill>
                            <a:srgbClr val="0F172A"/>
                          </a:solidFill>
                          <a:latin typeface="Calibri"/>
                        </a:rPr>
                        <a:t>6</a:t>
                      </a:r>
                    </a:p>
                  </a:txBody>
                  <a:tcPr marL="64008" marR="64008" marT="27432" marB="27432" anchor="ctr">
                    <a:solidFill>
                      <a:srgbClr val="F8FAFC"/>
                    </a:solidFill>
                  </a:tcPr>
                </a:tc>
                <a:tc>
                  <a:txBody>
                    <a:bodyPr wrap="square"/>
                    <a:lstStyle/>
                    <a:p>
                      <a:r>
                        <a:rPr sz="1050" b="0">
                          <a:solidFill>
                            <a:srgbClr val="0F172A"/>
                          </a:solidFill>
                          <a:latin typeface="Calibri"/>
                        </a:rPr>
                        <a:t>Plan d'affaires v6 et classeur de projections</a:t>
                      </a:r>
                    </a:p>
                  </a:txBody>
                  <a:tcPr marL="64008" marR="64008" marT="27432" marB="27432" anchor="ctr">
                    <a:solidFill>
                      <a:srgbClr val="F8FAFC"/>
                    </a:solidFill>
                  </a:tcPr>
                </a:tc>
                <a:tc>
                  <a:txBody>
                    <a:bodyPr wrap="square"/>
                    <a:lstStyle/>
                    <a:p>
                      <a:r>
                        <a:rPr sz="1050" b="0">
                          <a:solidFill>
                            <a:srgbClr val="0F172A"/>
                          </a:solidFill>
                          <a:latin typeface="Calibri"/>
                        </a:rPr>
                        <a:t>PDF et .xlsx</a:t>
                      </a:r>
                    </a:p>
                  </a:txBody>
                  <a:tcPr marL="64008" marR="64008" marT="27432" marB="27432" anchor="ctr">
                    <a:solidFill>
                      <a:srgbClr val="F8FAFC"/>
                    </a:solidFill>
                  </a:tcPr>
                </a:tc>
              </a:tr>
              <a:tr h="393192">
                <a:tc>
                  <a:txBody>
                    <a:bodyPr wrap="square"/>
                    <a:lstStyle/>
                    <a:p>
                      <a:r>
                        <a:rPr sz="1050" b="0">
                          <a:solidFill>
                            <a:srgbClr val="0F172A"/>
                          </a:solidFill>
                          <a:latin typeface="Calibri"/>
                        </a:rPr>
                        <a:t>7</a:t>
                      </a:r>
                    </a:p>
                  </a:txBody>
                  <a:tcPr marL="64008" marR="64008" marT="27432" marB="27432" anchor="ctr">
                    <a:solidFill>
                      <a:srgbClr val="FFFFFF"/>
                    </a:solidFill>
                  </a:tcPr>
                </a:tc>
                <a:tc>
                  <a:txBody>
                    <a:bodyPr wrap="square"/>
                    <a:lstStyle/>
                    <a:p>
                      <a:r>
                        <a:rPr sz="1050" b="0">
                          <a:solidFill>
                            <a:srgbClr val="0F172A"/>
                          </a:solidFill>
                          <a:latin typeface="Calibri"/>
                        </a:rPr>
                        <a:t>Statuts de BENAEL et extrait RCCM</a:t>
                      </a:r>
                    </a:p>
                  </a:txBody>
                  <a:tcPr marL="64008" marR="64008" marT="27432" marB="27432" anchor="ctr">
                    <a:solidFill>
                      <a:srgbClr val="FFFFFF"/>
                    </a:solidFill>
                  </a:tcPr>
                </a:tc>
                <a:tc>
                  <a:txBody>
                    <a:bodyPr wrap="square"/>
                    <a:lstStyle/>
                    <a:p>
                      <a:r>
                        <a:rPr sz="1050" b="0">
                          <a:solidFill>
                            <a:srgbClr val="0F172A"/>
                          </a:solidFill>
                          <a:latin typeface="Calibri"/>
                        </a:rPr>
                        <a:t>PDF</a:t>
                      </a:r>
                    </a:p>
                  </a:txBody>
                  <a:tcPr marL="64008" marR="64008" marT="27432" marB="27432" anchor="ctr">
                    <a:solidFill>
                      <a:srgbClr val="FFFFFF"/>
                    </a:solidFill>
                  </a:tcPr>
                </a:tc>
              </a:tr>
              <a:tr h="393192">
                <a:tc>
                  <a:txBody>
                    <a:bodyPr wrap="square"/>
                    <a:lstStyle/>
                    <a:p>
                      <a:r>
                        <a:rPr sz="1050" b="0">
                          <a:solidFill>
                            <a:srgbClr val="0F172A"/>
                          </a:solidFill>
                          <a:latin typeface="Calibri"/>
                        </a:rPr>
                        <a:t>8</a:t>
                      </a:r>
                    </a:p>
                  </a:txBody>
                  <a:tcPr marL="64008" marR="64008" marT="27432" marB="27432" anchor="ctr">
                    <a:solidFill>
                      <a:srgbClr val="F8FAFC"/>
                    </a:solidFill>
                  </a:tcPr>
                </a:tc>
                <a:tc>
                  <a:txBody>
                    <a:bodyPr wrap="square"/>
                    <a:lstStyle/>
                    <a:p>
                      <a:r>
                        <a:rPr sz="1050" b="0">
                          <a:solidFill>
                            <a:srgbClr val="0F172A"/>
                          </a:solidFill>
                          <a:latin typeface="Calibri"/>
                        </a:rPr>
                        <a:t>Acte de cession en apport (fondateur → BENAEL)</a:t>
                      </a:r>
                    </a:p>
                  </a:txBody>
                  <a:tcPr marL="64008" marR="64008" marT="27432" marB="27432" anchor="ctr">
                    <a:solidFill>
                      <a:srgbClr val="F8FAFC"/>
                    </a:solidFill>
                  </a:tcPr>
                </a:tc>
                <a:tc>
                  <a:txBody>
                    <a:bodyPr wrap="square"/>
                    <a:lstStyle/>
                    <a:p>
                      <a:r>
                        <a:rPr sz="1050" b="0">
                          <a:solidFill>
                            <a:srgbClr val="0F172A"/>
                          </a:solidFill>
                          <a:latin typeface="Calibri"/>
                        </a:rPr>
                        <a:t>Acte signé</a:t>
                      </a:r>
                    </a:p>
                  </a:txBody>
                  <a:tcPr marL="64008" marR="64008" marT="27432" marB="27432" anchor="ctr">
                    <a:solidFill>
                      <a:srgbClr val="F8FAFC"/>
                    </a:solidFill>
                  </a:tcPr>
                </a:tc>
              </a:tr>
              <a:tr h="393192">
                <a:tc>
                  <a:txBody>
                    <a:bodyPr wrap="square"/>
                    <a:lstStyle/>
                    <a:p>
                      <a:r>
                        <a:rPr sz="1050" b="0">
                          <a:solidFill>
                            <a:srgbClr val="0F172A"/>
                          </a:solidFill>
                          <a:latin typeface="Calibri"/>
                        </a:rPr>
                        <a:t>9</a:t>
                      </a:r>
                    </a:p>
                  </a:txBody>
                  <a:tcPr marL="64008" marR="64008" marT="27432" marB="27432" anchor="ctr">
                    <a:solidFill>
                      <a:srgbClr val="FFFFFF"/>
                    </a:solidFill>
                  </a:tcPr>
                </a:tc>
                <a:tc>
                  <a:txBody>
                    <a:bodyPr wrap="square"/>
                    <a:lstStyle/>
                    <a:p>
                      <a:r>
                        <a:rPr sz="1050" b="0">
                          <a:solidFill>
                            <a:srgbClr val="0F172A"/>
                          </a:solidFill>
                          <a:latin typeface="Calibri"/>
                        </a:rPr>
                        <a:t>Attestation sur l'honneur de propriété intellectuelle de BENAEL</a:t>
                      </a:r>
                    </a:p>
                  </a:txBody>
                  <a:tcPr marL="64008" marR="64008" marT="27432" marB="27432" anchor="ctr">
                    <a:solidFill>
                      <a:srgbClr val="FFFFFF"/>
                    </a:solidFill>
                  </a:tcPr>
                </a:tc>
                <a:tc>
                  <a:txBody>
                    <a:bodyPr wrap="square"/>
                    <a:lstStyle/>
                    <a:p>
                      <a:r>
                        <a:rPr sz="1050" b="0">
                          <a:solidFill>
                            <a:srgbClr val="0F172A"/>
                          </a:solidFill>
                          <a:latin typeface="Calibri"/>
                        </a:rPr>
                        <a:t>Document signé</a:t>
                      </a:r>
                    </a:p>
                  </a:txBody>
                  <a:tcPr marL="64008" marR="64008" marT="27432" marB="27432" anchor="ctr">
                    <a:solidFill>
                      <a:srgbClr val="FFFFFF"/>
                    </a:solidFill>
                  </a:tcPr>
                </a:tc>
              </a:tr>
              <a:tr h="393192">
                <a:tc>
                  <a:txBody>
                    <a:bodyPr wrap="square"/>
                    <a:lstStyle/>
                    <a:p>
                      <a:r>
                        <a:rPr sz="1050" b="0">
                          <a:solidFill>
                            <a:srgbClr val="0F172A"/>
                          </a:solidFill>
                          <a:latin typeface="Calibri"/>
                        </a:rPr>
                        <a:t>10</a:t>
                      </a:r>
                    </a:p>
                  </a:txBody>
                  <a:tcPr marL="64008" marR="64008" marT="27432" marB="27432" anchor="ctr">
                    <a:solidFill>
                      <a:srgbClr val="F8FAFC"/>
                    </a:solidFill>
                  </a:tcPr>
                </a:tc>
                <a:tc>
                  <a:txBody>
                    <a:bodyPr wrap="square"/>
                    <a:lstStyle/>
                    <a:p>
                      <a:r>
                        <a:rPr sz="1050" b="0">
                          <a:solidFill>
                            <a:srgbClr val="0F172A"/>
                          </a:solidFill>
                          <a:latin typeface="Calibri"/>
                        </a:rPr>
                        <a:t>Inventaire des intégrations tierces et des licences</a:t>
                      </a:r>
                    </a:p>
                  </a:txBody>
                  <a:tcPr marL="64008" marR="64008" marT="27432" marB="27432" anchor="ctr">
                    <a:solidFill>
                      <a:srgbClr val="F8FAFC"/>
                    </a:solidFill>
                  </a:tcPr>
                </a:tc>
                <a:tc>
                  <a:txBody>
                    <a:bodyPr wrap="square"/>
                    <a:lstStyle/>
                    <a:p>
                      <a:r>
                        <a:rPr sz="1050" b="0">
                          <a:solidFill>
                            <a:srgbClr val="0F172A"/>
                          </a:solidFill>
                          <a:latin typeface="Calibri"/>
                        </a:rPr>
                        <a:t>Tableau</a:t>
                      </a:r>
                    </a:p>
                  </a:txBody>
                  <a:tcPr marL="64008" marR="64008" marT="27432" marB="27432" anchor="ctr">
                    <a:solidFill>
                      <a:srgbClr val="F8FAFC"/>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09</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Annexe 1 — Périmètre arrêté</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Éléments apportés : droits patrimoniaux en pleine propriété</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13 / 15</a:t>
            </a:r>
          </a:p>
        </p:txBody>
      </p:sp>
      <p:graphicFrame>
        <p:nvGraphicFramePr>
          <p:cNvPr id="10" name="Table 9"/>
          <p:cNvGraphicFramePr>
            <a:graphicFrameLocks noGrp="1"/>
          </p:cNvGraphicFramePr>
          <p:nvPr/>
        </p:nvGraphicFramePr>
        <p:xfrm>
          <a:off x="640080" y="1325880"/>
          <a:ext cx="10908791" cy="4389120"/>
        </p:xfrm>
        <a:graphic>
          <a:graphicData uri="http://schemas.openxmlformats.org/drawingml/2006/table">
            <a:tbl>
              <a:tblPr firstRow="1" bandRow="1">
                <a:tableStyleId>{5C22544A-7EE6-4342-B048-85BDC9FD1C3A}</a:tableStyleId>
              </a:tblPr>
              <a:tblGrid>
                <a:gridCol w="458352"/>
                <a:gridCol w="2291763"/>
                <a:gridCol w="8158676"/>
              </a:tblGrid>
              <a:tr h="548640">
                <a:tc>
                  <a:txBody>
                    <a:bodyPr wrap="square"/>
                    <a:lstStyle/>
                    <a:p>
                      <a:r>
                        <a:rPr sz="1050" b="1">
                          <a:solidFill>
                            <a:srgbClr val="FFFFFF"/>
                          </a:solidFill>
                          <a:latin typeface="Calibri"/>
                        </a:rPr>
                        <a:t>#</a:t>
                      </a:r>
                    </a:p>
                  </a:txBody>
                  <a:tcPr marL="64008" marR="64008" marT="27432" marB="27432" anchor="ctr">
                    <a:solidFill>
                      <a:srgbClr val="1E3A8A"/>
                    </a:solidFill>
                  </a:tcPr>
                </a:tc>
                <a:tc>
                  <a:txBody>
                    <a:bodyPr wrap="square"/>
                    <a:lstStyle/>
                    <a:p>
                      <a:r>
                        <a:rPr sz="1050" b="1">
                          <a:solidFill>
                            <a:srgbClr val="FFFFFF"/>
                          </a:solidFill>
                          <a:latin typeface="Calibri"/>
                        </a:rPr>
                        <a:t>Élément</a:t>
                      </a:r>
                    </a:p>
                  </a:txBody>
                  <a:tcPr marL="64008" marR="64008" marT="27432" marB="27432" anchor="ctr">
                    <a:solidFill>
                      <a:srgbClr val="1E3A8A"/>
                    </a:solidFill>
                  </a:tcPr>
                </a:tc>
                <a:tc>
                  <a:txBody>
                    <a:bodyPr wrap="square"/>
                    <a:lstStyle/>
                    <a:p>
                      <a:r>
                        <a:rPr sz="1050" b="1">
                          <a:solidFill>
                            <a:srgbClr val="FFFFFF"/>
                          </a:solidFill>
                          <a:latin typeface="Calibri"/>
                        </a:rPr>
                        <a:t>Contenu</a:t>
                      </a:r>
                    </a:p>
                  </a:txBody>
                  <a:tcPr marL="64008" marR="64008" marT="27432" marB="27432" anchor="ctr">
                    <a:solidFill>
                      <a:srgbClr val="1E3A8A"/>
                    </a:solidFill>
                  </a:tcPr>
                </a:tc>
              </a:tr>
              <a:tr h="548640">
                <a:tc>
                  <a:txBody>
                    <a:bodyPr wrap="square"/>
                    <a:lstStyle/>
                    <a:p>
                      <a:r>
                        <a:rPr sz="1050" b="0">
                          <a:solidFill>
                            <a:srgbClr val="0F172A"/>
                          </a:solidFill>
                          <a:latin typeface="Calibri"/>
                        </a:rPr>
                        <a:t>A1</a:t>
                      </a:r>
                    </a:p>
                  </a:txBody>
                  <a:tcPr marL="64008" marR="64008" marT="27432" marB="27432" anchor="ctr">
                    <a:solidFill>
                      <a:srgbClr val="FFFFFF"/>
                    </a:solidFill>
                  </a:tcPr>
                </a:tc>
                <a:tc>
                  <a:txBody>
                    <a:bodyPr wrap="square"/>
                    <a:lstStyle/>
                    <a:p>
                      <a:r>
                        <a:rPr sz="1050" b="0">
                          <a:solidFill>
                            <a:srgbClr val="0F172A"/>
                          </a:solidFill>
                          <a:latin typeface="Calibri"/>
                        </a:rPr>
                        <a:t>Code source</a:t>
                      </a:r>
                    </a:p>
                  </a:txBody>
                  <a:tcPr marL="64008" marR="64008" marT="27432" marB="27432" anchor="ctr">
                    <a:solidFill>
                      <a:srgbClr val="FFFFFF"/>
                    </a:solidFill>
                  </a:tcPr>
                </a:tc>
                <a:tc>
                  <a:txBody>
                    <a:bodyPr wrap="square"/>
                    <a:lstStyle/>
                    <a:p>
                      <a:r>
                        <a:rPr sz="1050" b="0">
                          <a:solidFill>
                            <a:srgbClr val="0F172A"/>
                          </a:solidFill>
                          <a:latin typeface="Calibri"/>
                        </a:rPr>
                        <a:t>Passagers, chauffeurs (TamCar Pro), TamCar Office, site vitrine et espace partenaire, coques Android, bibliothèque partagée, scripts</a:t>
                      </a:r>
                    </a:p>
                  </a:txBody>
                  <a:tcPr marL="64008" marR="64008" marT="27432" marB="27432" anchor="ctr">
                    <a:solidFill>
                      <a:srgbClr val="FFFFFF"/>
                    </a:solidFill>
                  </a:tcPr>
                </a:tc>
              </a:tr>
              <a:tr h="548640">
                <a:tc>
                  <a:txBody>
                    <a:bodyPr wrap="square"/>
                    <a:lstStyle/>
                    <a:p>
                      <a:r>
                        <a:rPr sz="1050" b="0">
                          <a:solidFill>
                            <a:srgbClr val="0F172A"/>
                          </a:solidFill>
                          <a:latin typeface="Calibri"/>
                        </a:rPr>
                        <a:t>A2</a:t>
                      </a:r>
                    </a:p>
                  </a:txBody>
                  <a:tcPr marL="64008" marR="64008" marT="27432" marB="27432" anchor="ctr">
                    <a:solidFill>
                      <a:srgbClr val="F8FAFC"/>
                    </a:solidFill>
                  </a:tcPr>
                </a:tc>
                <a:tc>
                  <a:txBody>
                    <a:bodyPr wrap="square"/>
                    <a:lstStyle/>
                    <a:p>
                      <a:r>
                        <a:rPr sz="1050" b="0">
                          <a:solidFill>
                            <a:srgbClr val="0F172A"/>
                          </a:solidFill>
                          <a:latin typeface="Calibri"/>
                        </a:rPr>
                        <a:t>Base de données et logique métier</a:t>
                      </a:r>
                    </a:p>
                  </a:txBody>
                  <a:tcPr marL="64008" marR="64008" marT="27432" marB="27432" anchor="ctr">
                    <a:solidFill>
                      <a:srgbClr val="F8FAFC"/>
                    </a:solidFill>
                  </a:tcPr>
                </a:tc>
                <a:tc>
                  <a:txBody>
                    <a:bodyPr wrap="square"/>
                    <a:lstStyle/>
                    <a:p>
                      <a:r>
                        <a:rPr sz="1050" b="0">
                          <a:solidFill>
                            <a:srgbClr val="0F172A"/>
                          </a:solidFill>
                          <a:latin typeface="Calibri"/>
                        </a:rPr>
                        <a:t>Migrations SQL (90 tables, 9 vues, 349 fonctions), sécurité, tâches planifiées, fonctions serveur, tests</a:t>
                      </a:r>
                    </a:p>
                  </a:txBody>
                  <a:tcPr marL="64008" marR="64008" marT="27432" marB="27432" anchor="ctr">
                    <a:solidFill>
                      <a:srgbClr val="F8FAFC"/>
                    </a:solidFill>
                  </a:tcPr>
                </a:tc>
              </a:tr>
              <a:tr h="548640">
                <a:tc>
                  <a:txBody>
                    <a:bodyPr wrap="square"/>
                    <a:lstStyle/>
                    <a:p>
                      <a:r>
                        <a:rPr sz="1050" b="0">
                          <a:solidFill>
                            <a:srgbClr val="0F172A"/>
                          </a:solidFill>
                          <a:latin typeface="Calibri"/>
                        </a:rPr>
                        <a:t>A3</a:t>
                      </a:r>
                    </a:p>
                  </a:txBody>
                  <a:tcPr marL="64008" marR="64008" marT="27432" marB="27432" anchor="ctr">
                    <a:solidFill>
                      <a:srgbClr val="FFFFFF"/>
                    </a:solidFill>
                  </a:tcPr>
                </a:tc>
                <a:tc>
                  <a:txBody>
                    <a:bodyPr wrap="square"/>
                    <a:lstStyle/>
                    <a:p>
                      <a:r>
                        <a:rPr sz="1050" b="0">
                          <a:solidFill>
                            <a:srgbClr val="0F172A"/>
                          </a:solidFill>
                          <a:latin typeface="Calibri"/>
                        </a:rPr>
                        <a:t>Documentation</a:t>
                      </a:r>
                    </a:p>
                  </a:txBody>
                  <a:tcPr marL="64008" marR="64008" marT="27432" marB="27432" anchor="ctr">
                    <a:solidFill>
                      <a:srgbClr val="FFFFFF"/>
                    </a:solidFill>
                  </a:tcPr>
                </a:tc>
                <a:tc>
                  <a:txBody>
                    <a:bodyPr wrap="square"/>
                    <a:lstStyle/>
                    <a:p>
                      <a:r>
                        <a:rPr sz="1050" b="0">
                          <a:solidFill>
                            <a:srgbClr val="0F172A"/>
                          </a:solidFill>
                          <a:latin typeface="Calibri"/>
                        </a:rPr>
                        <a:t>Spécifications, guides (back-office, TamCar Office), roadmap, plan d'affaires, classeur de projections</a:t>
                      </a:r>
                    </a:p>
                  </a:txBody>
                  <a:tcPr marL="64008" marR="64008" marT="27432" marB="27432" anchor="ctr">
                    <a:solidFill>
                      <a:srgbClr val="FFFFFF"/>
                    </a:solidFill>
                  </a:tcPr>
                </a:tc>
              </a:tr>
              <a:tr h="548640">
                <a:tc>
                  <a:txBody>
                    <a:bodyPr wrap="square"/>
                    <a:lstStyle/>
                    <a:p>
                      <a:r>
                        <a:rPr sz="1050" b="0">
                          <a:solidFill>
                            <a:srgbClr val="0F172A"/>
                          </a:solidFill>
                          <a:latin typeface="Calibri"/>
                        </a:rPr>
                        <a:t>A4</a:t>
                      </a:r>
                    </a:p>
                  </a:txBody>
                  <a:tcPr marL="64008" marR="64008" marT="27432" marB="27432" anchor="ctr">
                    <a:solidFill>
                      <a:srgbClr val="F8FAFC"/>
                    </a:solidFill>
                  </a:tcPr>
                </a:tc>
                <a:tc>
                  <a:txBody>
                    <a:bodyPr wrap="square"/>
                    <a:lstStyle/>
                    <a:p>
                      <a:r>
                        <a:rPr sz="1050" b="0">
                          <a:solidFill>
                            <a:srgbClr val="0F172A"/>
                          </a:solidFill>
                          <a:latin typeface="Calibri"/>
                        </a:rPr>
                        <a:t>Marque et signes distinctifs</a:t>
                      </a:r>
                    </a:p>
                  </a:txBody>
                  <a:tcPr marL="64008" marR="64008" marT="27432" marB="27432" anchor="ctr">
                    <a:solidFill>
                      <a:srgbClr val="F8FAFC"/>
                    </a:solidFill>
                  </a:tcPr>
                </a:tc>
                <a:tc>
                  <a:txBody>
                    <a:bodyPr wrap="square"/>
                    <a:lstStyle/>
                    <a:p>
                      <a:r>
                        <a:rPr sz="1050" b="0">
                          <a:solidFill>
                            <a:srgbClr val="0F172A"/>
                          </a:solidFill>
                          <a:latin typeface="Calibri"/>
                        </a:rPr>
                        <a:t>TamCar, logo, palette, slogan, charte ; TamAssur, TamPass, Tamy, TamCar Pro, TamCar Office, TamCar Connect ; visuels ; droit de déposer et d'enregistrer</a:t>
                      </a:r>
                    </a:p>
                  </a:txBody>
                  <a:tcPr marL="64008" marR="64008" marT="27432" marB="27432" anchor="ctr">
                    <a:solidFill>
                      <a:srgbClr val="F8FAFC"/>
                    </a:solidFill>
                  </a:tcPr>
                </a:tc>
              </a:tr>
              <a:tr h="548640">
                <a:tc>
                  <a:txBody>
                    <a:bodyPr wrap="square"/>
                    <a:lstStyle/>
                    <a:p>
                      <a:r>
                        <a:rPr sz="1050" b="0">
                          <a:solidFill>
                            <a:srgbClr val="0F172A"/>
                          </a:solidFill>
                          <a:latin typeface="Calibri"/>
                        </a:rPr>
                        <a:t>A5</a:t>
                      </a:r>
                    </a:p>
                  </a:txBody>
                  <a:tcPr marL="64008" marR="64008" marT="27432" marB="27432" anchor="ctr">
                    <a:solidFill>
                      <a:srgbClr val="FFFFFF"/>
                    </a:solidFill>
                  </a:tcPr>
                </a:tc>
                <a:tc>
                  <a:txBody>
                    <a:bodyPr wrap="square"/>
                    <a:lstStyle/>
                    <a:p>
                      <a:r>
                        <a:rPr sz="1050" b="0">
                          <a:solidFill>
                            <a:srgbClr val="0F172A"/>
                          </a:solidFill>
                          <a:latin typeface="Calibri"/>
                        </a:rPr>
                        <a:t>Savoir-faire</a:t>
                      </a:r>
                    </a:p>
                  </a:txBody>
                  <a:tcPr marL="64008" marR="64008" marT="27432" marB="27432" anchor="ctr">
                    <a:solidFill>
                      <a:srgbClr val="FFFFFF"/>
                    </a:solidFill>
                  </a:tcPr>
                </a:tc>
                <a:tc>
                  <a:txBody>
                    <a:bodyPr wrap="square"/>
                    <a:lstStyle/>
                    <a:p>
                      <a:r>
                        <a:rPr sz="1050" b="0">
                          <a:solidFill>
                            <a:srgbClr val="0F172A"/>
                          </a:solidFill>
                          <a:latin typeface="Calibri"/>
                        </a:rPr>
                        <a:t>Tarifs, partage des revenus, cession échelonnée, versement quotidien, TamAssur, fonds de rachat, matching, procédures</a:t>
                      </a:r>
                    </a:p>
                  </a:txBody>
                  <a:tcPr marL="64008" marR="64008" marT="27432" marB="27432" anchor="ctr">
                    <a:solidFill>
                      <a:srgbClr val="FFFFFF"/>
                    </a:solidFill>
                  </a:tcPr>
                </a:tc>
              </a:tr>
              <a:tr h="548640">
                <a:tc>
                  <a:txBody>
                    <a:bodyPr wrap="square"/>
                    <a:lstStyle/>
                    <a:p>
                      <a:r>
                        <a:rPr sz="1050" b="0">
                          <a:solidFill>
                            <a:srgbClr val="0F172A"/>
                          </a:solidFill>
                          <a:latin typeface="Calibri"/>
                        </a:rPr>
                        <a:t>A6</a:t>
                      </a:r>
                    </a:p>
                  </a:txBody>
                  <a:tcPr marL="64008" marR="64008" marT="27432" marB="27432" anchor="ctr">
                    <a:solidFill>
                      <a:srgbClr val="F8FAFC"/>
                    </a:solidFill>
                  </a:tcPr>
                </a:tc>
                <a:tc>
                  <a:txBody>
                    <a:bodyPr wrap="square"/>
                    <a:lstStyle/>
                    <a:p>
                      <a:r>
                        <a:rPr sz="1050" b="0">
                          <a:solidFill>
                            <a:srgbClr val="0F172A"/>
                          </a:solidFill>
                          <a:latin typeface="Calibri"/>
                        </a:rPr>
                        <a:t>Documents types</a:t>
                      </a:r>
                    </a:p>
                  </a:txBody>
                  <a:tcPr marL="64008" marR="64008" marT="27432" marB="27432" anchor="ctr">
                    <a:solidFill>
                      <a:srgbClr val="F8FAFC"/>
                    </a:solidFill>
                  </a:tcPr>
                </a:tc>
                <a:tc>
                  <a:txBody>
                    <a:bodyPr wrap="square"/>
                    <a:lstStyle/>
                    <a:p>
                      <a:r>
                        <a:rPr sz="1050" b="0">
                          <a:solidFill>
                            <a:srgbClr val="0F172A"/>
                          </a:solidFill>
                          <a:latin typeface="Calibri"/>
                        </a:rPr>
                        <a:t>Contrat de partenariat, conditions générales, confidentialité, reçus, plaquettes, propositions</a:t>
                      </a:r>
                    </a:p>
                  </a:txBody>
                  <a:tcPr marL="64008" marR="64008" marT="27432" marB="27432" anchor="ctr">
                    <a:solidFill>
                      <a:srgbClr val="F8FAFC"/>
                    </a:solidFill>
                  </a:tcPr>
                </a:tc>
              </a:tr>
              <a:tr h="548640">
                <a:tc>
                  <a:txBody>
                    <a:bodyPr wrap="square"/>
                    <a:lstStyle/>
                    <a:p>
                      <a:r>
                        <a:rPr sz="1050" b="0">
                          <a:solidFill>
                            <a:srgbClr val="0F172A"/>
                          </a:solidFill>
                          <a:latin typeface="Calibri"/>
                        </a:rPr>
                        <a:t>A7</a:t>
                      </a:r>
                    </a:p>
                  </a:txBody>
                  <a:tcPr marL="64008" marR="64008" marT="27432" marB="27432" anchor="ctr">
                    <a:solidFill>
                      <a:srgbClr val="FFFFFF"/>
                    </a:solidFill>
                  </a:tcPr>
                </a:tc>
                <a:tc>
                  <a:txBody>
                    <a:bodyPr wrap="square"/>
                    <a:lstStyle/>
                    <a:p>
                      <a:r>
                        <a:rPr sz="1050" b="0">
                          <a:solidFill>
                            <a:srgbClr val="0F172A"/>
                          </a:solidFill>
                          <a:latin typeface="Calibri"/>
                        </a:rPr>
                        <a:t>Noms de domaine</a:t>
                      </a:r>
                    </a:p>
                  </a:txBody>
                  <a:tcPr marL="64008" marR="64008" marT="27432" marB="27432" anchor="ctr">
                    <a:solidFill>
                      <a:srgbClr val="FFFFFF"/>
                    </a:solidFill>
                  </a:tcPr>
                </a:tc>
                <a:tc>
                  <a:txBody>
                    <a:bodyPr wrap="square"/>
                    <a:lstStyle/>
                    <a:p>
                      <a:r>
                        <a:rPr sz="1050" b="0">
                          <a:solidFill>
                            <a:srgbClr val="0F172A"/>
                          </a:solidFill>
                          <a:latin typeface="Calibri"/>
                        </a:rPr>
                        <a:t>tamcar.app et domaines liés : titularité du compte chez le registraire</a:t>
                      </a:r>
                    </a:p>
                  </a:txBody>
                  <a:tcPr marL="64008" marR="64008" marT="27432" marB="27432" anchor="ctr">
                    <a:solidFill>
                      <a:srgbClr val="FFFFFF"/>
                    </a:solidFill>
                  </a:tcPr>
                </a:tc>
              </a:tr>
            </a:tbl>
          </a:graphicData>
        </a:graphic>
      </p:graphicFrame>
      <p:sp>
        <p:nvSpPr>
          <p:cNvPr id="11" name="TextBox 10"/>
          <p:cNvSpPr txBox="1"/>
          <p:nvPr/>
        </p:nvSpPr>
        <p:spPr>
          <a:xfrm>
            <a:off x="640080" y="5852160"/>
            <a:ext cx="10908792" cy="457200"/>
          </a:xfrm>
          <a:prstGeom prst="rect">
            <a:avLst/>
          </a:prstGeom>
          <a:noFill/>
        </p:spPr>
        <p:txBody>
          <a:bodyPr wrap="square" lIns="36576" rIns="36576" tIns="18288" bIns="18288">
            <a:spAutoFit/>
          </a:bodyPr>
          <a:lstStyle/>
          <a:p>
            <a:pPr>
              <a:spcAft>
                <a:spcPts val="300"/>
              </a:spcAft>
            </a:pPr>
            <a:r>
              <a:rPr sz="1000" b="0">
                <a:solidFill>
                  <a:srgbClr val="64748B"/>
                </a:solidFill>
                <a:latin typeface="Calibri"/>
              </a:rPr>
              <a:t>Liste arrêtée au 23 octobre 2026. Tout élément qui n'y figure pas est exclu ; les développements postérieurs à l'apport ne sont pas compris.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09</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Annexe 1 — Transférés et exclus</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Contrats et comptes, éléments restant chez BENAEL</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14 / 15</a:t>
            </a:r>
          </a:p>
        </p:txBody>
      </p:sp>
      <p:sp>
        <p:nvSpPr>
          <p:cNvPr id="10" name="TextBox 9"/>
          <p:cNvSpPr txBox="1"/>
          <p:nvPr/>
        </p:nvSpPr>
        <p:spPr>
          <a:xfrm>
            <a:off x="640080" y="1280160"/>
            <a:ext cx="10881360" cy="274320"/>
          </a:xfrm>
          <a:prstGeom prst="rect">
            <a:avLst/>
          </a:prstGeom>
          <a:noFill/>
        </p:spPr>
        <p:txBody>
          <a:bodyPr wrap="square" lIns="36576" rIns="36576" tIns="18288" bIns="18288">
            <a:spAutoFit/>
          </a:bodyPr>
          <a:lstStyle/>
          <a:p>
            <a:pPr>
              <a:spcAft>
                <a:spcPts val="300"/>
              </a:spcAft>
            </a:pPr>
            <a:r>
              <a:rPr sz="1300" b="1">
                <a:solidFill>
                  <a:srgbClr val="1E3A8A"/>
                </a:solidFill>
                <a:latin typeface="Calibri"/>
              </a:rPr>
              <a:t>Transférés — contrats et comptes, sans valeur d'apport</a:t>
            </a:r>
          </a:p>
        </p:txBody>
      </p:sp>
      <p:graphicFrame>
        <p:nvGraphicFramePr>
          <p:cNvPr id="11" name="Table 10"/>
          <p:cNvGraphicFramePr>
            <a:graphicFrameLocks noGrp="1"/>
          </p:cNvGraphicFramePr>
          <p:nvPr/>
        </p:nvGraphicFramePr>
        <p:xfrm>
          <a:off x="640080" y="1645920"/>
          <a:ext cx="10908791" cy="1755648"/>
        </p:xfrm>
        <a:graphic>
          <a:graphicData uri="http://schemas.openxmlformats.org/drawingml/2006/table">
            <a:tbl>
              <a:tblPr firstRow="1" bandRow="1">
                <a:tableStyleId>{5C22544A-7EE6-4342-B048-85BDC9FD1C3A}</a:tableStyleId>
              </a:tblPr>
              <a:tblGrid>
                <a:gridCol w="458352"/>
                <a:gridCol w="5500231"/>
                <a:gridCol w="4950208"/>
              </a:tblGrid>
              <a:tr h="438912">
                <a:tc>
                  <a:txBody>
                    <a:bodyPr wrap="square"/>
                    <a:lstStyle/>
                    <a:p>
                      <a:r>
                        <a:rPr sz="1050" b="1">
                          <a:solidFill>
                            <a:srgbClr val="FFFFFF"/>
                          </a:solidFill>
                          <a:latin typeface="Calibri"/>
                        </a:rPr>
                        <a:t>#</a:t>
                      </a:r>
                    </a:p>
                  </a:txBody>
                  <a:tcPr marL="64008" marR="64008" marT="27432" marB="27432" anchor="ctr">
                    <a:solidFill>
                      <a:srgbClr val="1E3A8A"/>
                    </a:solidFill>
                  </a:tcPr>
                </a:tc>
                <a:tc>
                  <a:txBody>
                    <a:bodyPr wrap="square"/>
                    <a:lstStyle/>
                    <a:p>
                      <a:r>
                        <a:rPr sz="1050" b="1">
                          <a:solidFill>
                            <a:srgbClr val="FFFFFF"/>
                          </a:solidFill>
                          <a:latin typeface="Calibri"/>
                        </a:rPr>
                        <a:t>Élément</a:t>
                      </a:r>
                    </a:p>
                  </a:txBody>
                  <a:tcPr marL="64008" marR="64008" marT="27432" marB="27432" anchor="ctr">
                    <a:solidFill>
                      <a:srgbClr val="1E3A8A"/>
                    </a:solidFill>
                  </a:tcPr>
                </a:tc>
                <a:tc>
                  <a:txBody>
                    <a:bodyPr wrap="square"/>
                    <a:lstStyle/>
                    <a:p>
                      <a:r>
                        <a:rPr sz="1050" b="1">
                          <a:solidFill>
                            <a:srgbClr val="FFFFFF"/>
                          </a:solidFill>
                          <a:latin typeface="Calibri"/>
                        </a:rPr>
                        <a:t>Traitement</a:t>
                      </a:r>
                    </a:p>
                  </a:txBody>
                  <a:tcPr marL="64008" marR="64008" marT="27432" marB="27432" anchor="ctr">
                    <a:solidFill>
                      <a:srgbClr val="1E3A8A"/>
                    </a:solidFill>
                  </a:tcPr>
                </a:tc>
              </a:tr>
              <a:tr h="438912">
                <a:tc>
                  <a:txBody>
                    <a:bodyPr wrap="square"/>
                    <a:lstStyle/>
                    <a:p>
                      <a:r>
                        <a:rPr sz="1050" b="0">
                          <a:solidFill>
                            <a:srgbClr val="0F172A"/>
                          </a:solidFill>
                          <a:latin typeface="Calibri"/>
                        </a:rPr>
                        <a:t>T1</a:t>
                      </a:r>
                    </a:p>
                  </a:txBody>
                  <a:tcPr marL="64008" marR="64008" marT="27432" marB="27432" anchor="ctr">
                    <a:solidFill>
                      <a:srgbClr val="FFFFFF"/>
                    </a:solidFill>
                  </a:tcPr>
                </a:tc>
                <a:tc>
                  <a:txBody>
                    <a:bodyPr wrap="square"/>
                    <a:lstStyle/>
                    <a:p>
                      <a:r>
                        <a:rPr sz="1050" b="0">
                          <a:solidFill>
                            <a:srgbClr val="0F172A"/>
                          </a:solidFill>
                          <a:latin typeface="Calibri"/>
                        </a:rPr>
                        <a:t>Comptes techniques : Supabase, Vercel, dépôt Git, Cloudflare, Firebase</a:t>
                      </a:r>
                    </a:p>
                  </a:txBody>
                  <a:tcPr marL="64008" marR="64008" marT="27432" marB="27432" anchor="ctr">
                    <a:solidFill>
                      <a:srgbClr val="FFFFFF"/>
                    </a:solidFill>
                  </a:tcPr>
                </a:tc>
                <a:tc>
                  <a:txBody>
                    <a:bodyPr wrap="square"/>
                    <a:lstStyle/>
                    <a:p>
                      <a:r>
                        <a:rPr sz="1050" b="0">
                          <a:solidFill>
                            <a:srgbClr val="0F172A"/>
                          </a:solidFill>
                          <a:latin typeface="Calibri"/>
                        </a:rPr>
                        <a:t>Transfert ou ressouscription au nom de Tam Logistics ; BENAEL assure la transition</a:t>
                      </a:r>
                    </a:p>
                  </a:txBody>
                  <a:tcPr marL="64008" marR="64008" marT="27432" marB="27432" anchor="ctr">
                    <a:solidFill>
                      <a:srgbClr val="FFFFFF"/>
                    </a:solidFill>
                  </a:tcPr>
                </a:tc>
              </a:tr>
              <a:tr h="438912">
                <a:tc>
                  <a:txBody>
                    <a:bodyPr wrap="square"/>
                    <a:lstStyle/>
                    <a:p>
                      <a:r>
                        <a:rPr sz="1050" b="0">
                          <a:solidFill>
                            <a:srgbClr val="0F172A"/>
                          </a:solidFill>
                          <a:latin typeface="Calibri"/>
                        </a:rPr>
                        <a:t>T2</a:t>
                      </a:r>
                    </a:p>
                  </a:txBody>
                  <a:tcPr marL="64008" marR="64008" marT="27432" marB="27432" anchor="ctr">
                    <a:solidFill>
                      <a:srgbClr val="F8FAFC"/>
                    </a:solidFill>
                  </a:tcPr>
                </a:tc>
                <a:tc>
                  <a:txBody>
                    <a:bodyPr wrap="square"/>
                    <a:lstStyle/>
                    <a:p>
                      <a:r>
                        <a:rPr sz="1050" b="0">
                          <a:solidFill>
                            <a:srgbClr val="0F172A"/>
                          </a:solidFill>
                          <a:latin typeface="Calibri"/>
                        </a:rPr>
                        <a:t>Contrats de paiement et de messagerie : FeexPay, WhatsApp Business</a:t>
                      </a:r>
                    </a:p>
                  </a:txBody>
                  <a:tcPr marL="64008" marR="64008" marT="27432" marB="27432" anchor="ctr">
                    <a:solidFill>
                      <a:srgbClr val="F8FAFC"/>
                    </a:solidFill>
                  </a:tcPr>
                </a:tc>
                <a:tc>
                  <a:txBody>
                    <a:bodyPr wrap="square"/>
                    <a:lstStyle/>
                    <a:p>
                      <a:r>
                        <a:rPr sz="1050" b="0">
                          <a:solidFill>
                            <a:srgbClr val="0F172A"/>
                          </a:solidFill>
                          <a:latin typeface="Calibri"/>
                        </a:rPr>
                        <a:t>Conclus au nom de la société d'exploitation</a:t>
                      </a:r>
                    </a:p>
                  </a:txBody>
                  <a:tcPr marL="64008" marR="64008" marT="27432" marB="27432" anchor="ctr">
                    <a:solidFill>
                      <a:srgbClr val="F8FAFC"/>
                    </a:solidFill>
                  </a:tcPr>
                </a:tc>
              </a:tr>
              <a:tr h="438912">
                <a:tc>
                  <a:txBody>
                    <a:bodyPr wrap="square"/>
                    <a:lstStyle/>
                    <a:p>
                      <a:r>
                        <a:rPr sz="1050" b="0">
                          <a:solidFill>
                            <a:srgbClr val="0F172A"/>
                          </a:solidFill>
                          <a:latin typeface="Calibri"/>
                        </a:rPr>
                        <a:t>T3</a:t>
                      </a:r>
                    </a:p>
                  </a:txBody>
                  <a:tcPr marL="64008" marR="64008" marT="27432" marB="27432" anchor="ctr">
                    <a:solidFill>
                      <a:srgbClr val="FFFFFF"/>
                    </a:solidFill>
                  </a:tcPr>
                </a:tc>
                <a:tc>
                  <a:txBody>
                    <a:bodyPr wrap="square"/>
                    <a:lstStyle/>
                    <a:p>
                      <a:r>
                        <a:rPr sz="1050" b="0">
                          <a:solidFill>
                            <a:srgbClr val="0F172A"/>
                          </a:solidFill>
                          <a:latin typeface="Calibri"/>
                        </a:rPr>
                        <a:t>Comptes de développeur des boutiques d'applications</a:t>
                      </a:r>
                    </a:p>
                  </a:txBody>
                  <a:tcPr marL="64008" marR="64008" marT="27432" marB="27432" anchor="ctr">
                    <a:solidFill>
                      <a:srgbClr val="FFFFFF"/>
                    </a:solidFill>
                  </a:tcPr>
                </a:tc>
                <a:tc>
                  <a:txBody>
                    <a:bodyPr wrap="square"/>
                    <a:lstStyle/>
                    <a:p>
                      <a:r>
                        <a:rPr sz="1050" b="0">
                          <a:solidFill>
                            <a:srgbClr val="0F172A"/>
                          </a:solidFill>
                          <a:latin typeface="Calibri"/>
                        </a:rPr>
                        <a:t>Ouverts au nom de la société d'exploitation</a:t>
                      </a:r>
                    </a:p>
                  </a:txBody>
                  <a:tcPr marL="64008" marR="64008" marT="27432" marB="27432" anchor="ctr">
                    <a:solidFill>
                      <a:srgbClr val="FFFFFF"/>
                    </a:solidFill>
                  </a:tcPr>
                </a:tc>
              </a:tr>
            </a:tbl>
          </a:graphicData>
        </a:graphic>
      </p:graphicFrame>
      <p:sp>
        <p:nvSpPr>
          <p:cNvPr id="12" name="TextBox 11"/>
          <p:cNvSpPr txBox="1"/>
          <p:nvPr/>
        </p:nvSpPr>
        <p:spPr>
          <a:xfrm>
            <a:off x="640080" y="3566160"/>
            <a:ext cx="10881360" cy="274320"/>
          </a:xfrm>
          <a:prstGeom prst="rect">
            <a:avLst/>
          </a:prstGeom>
          <a:noFill/>
        </p:spPr>
        <p:txBody>
          <a:bodyPr wrap="square" lIns="36576" rIns="36576" tIns="18288" bIns="18288">
            <a:spAutoFit/>
          </a:bodyPr>
          <a:lstStyle/>
          <a:p>
            <a:pPr>
              <a:spcAft>
                <a:spcPts val="300"/>
              </a:spcAft>
            </a:pPr>
            <a:r>
              <a:rPr sz="1300" b="1">
                <a:solidFill>
                  <a:srgbClr val="1E3A8A"/>
                </a:solidFill>
                <a:latin typeface="Calibri"/>
              </a:rPr>
              <a:t>Exclus — restent chez BENAEL</a:t>
            </a:r>
          </a:p>
        </p:txBody>
      </p:sp>
      <p:graphicFrame>
        <p:nvGraphicFramePr>
          <p:cNvPr id="13" name="Table 12"/>
          <p:cNvGraphicFramePr>
            <a:graphicFrameLocks noGrp="1"/>
          </p:cNvGraphicFramePr>
          <p:nvPr/>
        </p:nvGraphicFramePr>
        <p:xfrm>
          <a:off x="640080" y="3931920"/>
          <a:ext cx="10908791" cy="1755648"/>
        </p:xfrm>
        <a:graphic>
          <a:graphicData uri="http://schemas.openxmlformats.org/drawingml/2006/table">
            <a:tbl>
              <a:tblPr firstRow="1" bandRow="1">
                <a:tableStyleId>{5C22544A-7EE6-4342-B048-85BDC9FD1C3A}</a:tableStyleId>
              </a:tblPr>
              <a:tblGrid>
                <a:gridCol w="458352"/>
                <a:gridCol w="5500231"/>
                <a:gridCol w="4950208"/>
              </a:tblGrid>
              <a:tr h="438912">
                <a:tc>
                  <a:txBody>
                    <a:bodyPr wrap="square"/>
                    <a:lstStyle/>
                    <a:p>
                      <a:r>
                        <a:rPr sz="1050" b="1">
                          <a:solidFill>
                            <a:srgbClr val="FFFFFF"/>
                          </a:solidFill>
                          <a:latin typeface="Calibri"/>
                        </a:rPr>
                        <a:t>#</a:t>
                      </a:r>
                    </a:p>
                  </a:txBody>
                  <a:tcPr marL="64008" marR="64008" marT="27432" marB="27432" anchor="ctr">
                    <a:solidFill>
                      <a:srgbClr val="1E3A8A"/>
                    </a:solidFill>
                  </a:tcPr>
                </a:tc>
                <a:tc>
                  <a:txBody>
                    <a:bodyPr wrap="square"/>
                    <a:lstStyle/>
                    <a:p>
                      <a:r>
                        <a:rPr sz="1050" b="1">
                          <a:solidFill>
                            <a:srgbClr val="FFFFFF"/>
                          </a:solidFill>
                          <a:latin typeface="Calibri"/>
                        </a:rPr>
                        <a:t>Élément</a:t>
                      </a:r>
                    </a:p>
                  </a:txBody>
                  <a:tcPr marL="64008" marR="64008" marT="27432" marB="27432" anchor="ctr">
                    <a:solidFill>
                      <a:srgbClr val="1E3A8A"/>
                    </a:solidFill>
                  </a:tcPr>
                </a:tc>
                <a:tc>
                  <a:txBody>
                    <a:bodyPr wrap="square"/>
                    <a:lstStyle/>
                    <a:p>
                      <a:r>
                        <a:rPr sz="1050" b="1">
                          <a:solidFill>
                            <a:srgbClr val="FFFFFF"/>
                          </a:solidFill>
                          <a:latin typeface="Calibri"/>
                        </a:rPr>
                        <a:t>Traitement</a:t>
                      </a:r>
                    </a:p>
                  </a:txBody>
                  <a:tcPr marL="64008" marR="64008" marT="27432" marB="27432" anchor="ctr">
                    <a:solidFill>
                      <a:srgbClr val="1E3A8A"/>
                    </a:solidFill>
                  </a:tcPr>
                </a:tc>
              </a:tr>
              <a:tr h="438912">
                <a:tc>
                  <a:txBody>
                    <a:bodyPr wrap="square"/>
                    <a:lstStyle/>
                    <a:p>
                      <a:r>
                        <a:rPr sz="1050" b="0">
                          <a:solidFill>
                            <a:srgbClr val="0F172A"/>
                          </a:solidFill>
                          <a:latin typeface="Calibri"/>
                        </a:rPr>
                        <a:t>E1</a:t>
                      </a:r>
                    </a:p>
                  </a:txBody>
                  <a:tcPr marL="64008" marR="64008" marT="27432" marB="27432" anchor="ctr">
                    <a:solidFill>
                      <a:srgbClr val="FFFFFF"/>
                    </a:solidFill>
                  </a:tcPr>
                </a:tc>
                <a:tc>
                  <a:txBody>
                    <a:bodyPr wrap="square"/>
                    <a:lstStyle/>
                    <a:p>
                      <a:r>
                        <a:rPr sz="1050" b="0">
                          <a:solidFill>
                            <a:srgbClr val="0F172A"/>
                          </a:solidFill>
                          <a:latin typeface="Calibri"/>
                        </a:rPr>
                        <a:t>Plateforme de gestion du groupe BENAEL, Juvora, CleanCompta, site de BENAEL</a:t>
                      </a:r>
                    </a:p>
                  </a:txBody>
                  <a:tcPr marL="64008" marR="64008" marT="27432" marB="27432" anchor="ctr">
                    <a:solidFill>
                      <a:srgbClr val="FFFFFF"/>
                    </a:solidFill>
                  </a:tcPr>
                </a:tc>
                <a:tc>
                  <a:txBody>
                    <a:bodyPr wrap="square"/>
                    <a:lstStyle/>
                    <a:p>
                      <a:r>
                        <a:rPr sz="1050" b="0">
                          <a:solidFill>
                            <a:srgbClr val="0F172A"/>
                          </a:solidFill>
                          <a:latin typeface="Calibri"/>
                        </a:rPr>
                        <a:t>Hors périmètre</a:t>
                      </a:r>
                    </a:p>
                  </a:txBody>
                  <a:tcPr marL="64008" marR="64008" marT="27432" marB="27432" anchor="ctr">
                    <a:solidFill>
                      <a:srgbClr val="FFFFFF"/>
                    </a:solidFill>
                  </a:tcPr>
                </a:tc>
              </a:tr>
              <a:tr h="438912">
                <a:tc>
                  <a:txBody>
                    <a:bodyPr wrap="square"/>
                    <a:lstStyle/>
                    <a:p>
                      <a:r>
                        <a:rPr sz="1050" b="0">
                          <a:solidFill>
                            <a:srgbClr val="0F172A"/>
                          </a:solidFill>
                          <a:latin typeface="Calibri"/>
                        </a:rPr>
                        <a:t>E2</a:t>
                      </a:r>
                    </a:p>
                  </a:txBody>
                  <a:tcPr marL="64008" marR="64008" marT="27432" marB="27432" anchor="ctr">
                    <a:solidFill>
                      <a:srgbClr val="F8FAFC"/>
                    </a:solidFill>
                  </a:tcPr>
                </a:tc>
                <a:tc>
                  <a:txBody>
                    <a:bodyPr wrap="square"/>
                    <a:lstStyle/>
                    <a:p>
                      <a:r>
                        <a:rPr sz="1050" b="0">
                          <a:solidFill>
                            <a:srgbClr val="0F172A"/>
                          </a:solidFill>
                          <a:latin typeface="Calibri"/>
                        </a:rPr>
                        <a:t>Composants génériques de BENAEL réutilisés dans plusieurs projets (s'il en existe)</a:t>
                      </a:r>
                    </a:p>
                  </a:txBody>
                  <a:tcPr marL="64008" marR="64008" marT="27432" marB="27432" anchor="ctr">
                    <a:solidFill>
                      <a:srgbClr val="F8FAFC"/>
                    </a:solidFill>
                  </a:tcPr>
                </a:tc>
                <a:tc>
                  <a:txBody>
                    <a:bodyPr wrap="square"/>
                    <a:lstStyle/>
                    <a:p>
                      <a:r>
                        <a:rPr sz="1050" b="0">
                          <a:solidFill>
                            <a:srgbClr val="0F172A"/>
                          </a:solidFill>
                          <a:latin typeface="Calibri"/>
                        </a:rPr>
                        <a:t>Licence non exclusive et gratuite pour l'usage de TamCar</a:t>
                      </a:r>
                    </a:p>
                  </a:txBody>
                  <a:tcPr marL="64008" marR="64008" marT="27432" marB="27432" anchor="ctr">
                    <a:solidFill>
                      <a:srgbClr val="F8FAFC"/>
                    </a:solidFill>
                  </a:tcPr>
                </a:tc>
              </a:tr>
              <a:tr h="438912">
                <a:tc>
                  <a:txBody>
                    <a:bodyPr wrap="square"/>
                    <a:lstStyle/>
                    <a:p>
                      <a:r>
                        <a:rPr sz="1050" b="0">
                          <a:solidFill>
                            <a:srgbClr val="0F172A"/>
                          </a:solidFill>
                          <a:latin typeface="Calibri"/>
                        </a:rPr>
                        <a:t>E3</a:t>
                      </a:r>
                    </a:p>
                  </a:txBody>
                  <a:tcPr marL="64008" marR="64008" marT="27432" marB="27432" anchor="ctr">
                    <a:solidFill>
                      <a:srgbClr val="FFFFFF"/>
                    </a:solidFill>
                  </a:tcPr>
                </a:tc>
                <a:tc>
                  <a:txBody>
                    <a:bodyPr wrap="square"/>
                    <a:lstStyle/>
                    <a:p>
                      <a:r>
                        <a:rPr sz="1050" b="0">
                          <a:solidFill>
                            <a:srgbClr val="0F172A"/>
                          </a:solidFill>
                          <a:latin typeface="Calibri"/>
                        </a:rPr>
                        <a:t>Logiciels et données de tiers (open source, OpenStreetMap)</a:t>
                      </a:r>
                    </a:p>
                  </a:txBody>
                  <a:tcPr marL="64008" marR="64008" marT="27432" marB="27432" anchor="ctr">
                    <a:solidFill>
                      <a:srgbClr val="FFFFFF"/>
                    </a:solidFill>
                  </a:tcPr>
                </a:tc>
                <a:tc>
                  <a:txBody>
                    <a:bodyPr wrap="square"/>
                    <a:lstStyle/>
                    <a:p>
                      <a:r>
                        <a:rPr sz="1050" b="0">
                          <a:solidFill>
                            <a:srgbClr val="0F172A"/>
                          </a:solidFill>
                          <a:latin typeface="Calibri"/>
                        </a:rPr>
                        <a:t>Conservent leur licence ; attribution maintenue</a:t>
                      </a:r>
                    </a:p>
                  </a:txBody>
                  <a:tcPr marL="64008" marR="64008" marT="27432" marB="27432"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914400" cy="640080"/>
          </a:xfrm>
          <a:prstGeom prst="rect">
            <a:avLst/>
          </a:prstGeom>
          <a:noFill/>
        </p:spPr>
        <p:txBody>
          <a:bodyPr wrap="square" lIns="36576" rIns="36576" tIns="18288" bIns="18288">
            <a:spAutoFit/>
          </a:bodyPr>
          <a:lstStyle/>
          <a:p>
            <a:pPr>
              <a:spcAft>
                <a:spcPts val="300"/>
              </a:spcAft>
            </a:pPr>
            <a:r>
              <a:rPr sz="3000" b="1">
                <a:solidFill>
                  <a:srgbClr val="2563EB"/>
                </a:solidFill>
                <a:latin typeface="Calibri"/>
              </a:rPr>
              <a:t>10</a:t>
            </a:r>
          </a:p>
        </p:txBody>
      </p:sp>
      <p:sp>
        <p:nvSpPr>
          <p:cNvPr id="4" name="TextBox 3"/>
          <p:cNvSpPr txBox="1"/>
          <p:nvPr/>
        </p:nvSpPr>
        <p:spPr>
          <a:xfrm>
            <a:off x="1417320" y="347472"/>
            <a:ext cx="9601200" cy="411480"/>
          </a:xfrm>
          <a:prstGeom prst="rect">
            <a:avLst/>
          </a:prstGeom>
          <a:noFill/>
        </p:spPr>
        <p:txBody>
          <a:bodyPr wrap="square" lIns="36576" rIns="36576" tIns="18288" bIns="18288">
            <a:spAutoFit/>
          </a:bodyPr>
          <a:lstStyle/>
          <a:p>
            <a:pPr>
              <a:spcAft>
                <a:spcPts val="300"/>
              </a:spcAft>
            </a:pPr>
            <a:r>
              <a:rPr sz="2200" b="1">
                <a:solidFill>
                  <a:srgbClr val="1E3A8A"/>
                </a:solidFill>
                <a:latin typeface="Calibri"/>
              </a:rPr>
              <a:t>Contact et suite du dossier</a:t>
            </a:r>
          </a:p>
        </p:txBody>
      </p:sp>
      <p:sp>
        <p:nvSpPr>
          <p:cNvPr id="5" name="TextBox 4"/>
          <p:cNvSpPr txBox="1"/>
          <p:nvPr/>
        </p:nvSpPr>
        <p:spPr>
          <a:xfrm>
            <a:off x="1417320" y="749808"/>
            <a:ext cx="9601200" cy="274320"/>
          </a:xfrm>
          <a:prstGeom prst="rect">
            <a:avLst/>
          </a:prstGeom>
          <a:noFill/>
        </p:spPr>
        <p:txBody>
          <a:bodyPr wrap="square" lIns="36576" rIns="36576" tIns="18288" bIns="18288">
            <a:spAutoFit/>
          </a:bodyPr>
          <a:lstStyle/>
          <a:p>
            <a:pPr>
              <a:spcAft>
                <a:spcPts val="300"/>
              </a:spcAft>
            </a:pPr>
            <a:r>
              <a:rPr sz="1100" b="0">
                <a:solidFill>
                  <a:srgbClr val="64748B"/>
                </a:solidFill>
                <a:latin typeface="Calibri"/>
              </a:rPr>
              <a:t>Coordonnées et modalités de restitution</a:t>
            </a:r>
          </a:p>
        </p:txBody>
      </p:sp>
      <p:sp>
        <p:nvSpPr>
          <p:cNvPr id="6" name="Rectangle 5"/>
          <p:cNvSpPr/>
          <p:nvPr/>
        </p:nvSpPr>
        <p:spPr>
          <a:xfrm>
            <a:off x="640080" y="1097280"/>
            <a:ext cx="10908792" cy="3657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6446520"/>
            <a:ext cx="10908792"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73952"/>
            <a:ext cx="5486400" cy="256032"/>
          </a:xfrm>
          <a:prstGeom prst="rect">
            <a:avLst/>
          </a:prstGeom>
          <a:noFill/>
        </p:spPr>
        <p:txBody>
          <a:bodyPr wrap="square" lIns="36576" rIns="36576" tIns="18288" bIns="18288">
            <a:spAutoFit/>
          </a:bodyPr>
          <a:lstStyle/>
          <a:p>
            <a:pPr>
              <a:spcAft>
                <a:spcPts val="300"/>
              </a:spcAft>
            </a:pPr>
            <a:r>
              <a:rPr sz="800" b="0">
                <a:solidFill>
                  <a:srgbClr val="64748B"/>
                </a:solidFill>
                <a:latin typeface="Calibri"/>
              </a:rPr>
              <a:t>TamCar — Dossier d'évaluation IP (V2.0 · levée 13 M)</a:t>
            </a:r>
          </a:p>
        </p:txBody>
      </p:sp>
      <p:sp>
        <p:nvSpPr>
          <p:cNvPr id="9" name="TextBox 8"/>
          <p:cNvSpPr txBox="1"/>
          <p:nvPr/>
        </p:nvSpPr>
        <p:spPr>
          <a:xfrm>
            <a:off x="7863840" y="6473952"/>
            <a:ext cx="3685032" cy="256032"/>
          </a:xfrm>
          <a:prstGeom prst="rect">
            <a:avLst/>
          </a:prstGeom>
          <a:noFill/>
        </p:spPr>
        <p:txBody>
          <a:bodyPr wrap="square" lIns="36576" rIns="36576" tIns="18288" bIns="18288">
            <a:spAutoFit/>
          </a:bodyPr>
          <a:lstStyle/>
          <a:p>
            <a:pPr algn="r">
              <a:spcAft>
                <a:spcPts val="300"/>
              </a:spcAft>
            </a:pPr>
            <a:r>
              <a:rPr sz="800" b="0">
                <a:solidFill>
                  <a:srgbClr val="64748B"/>
                </a:solidFill>
                <a:latin typeface="Calibri"/>
              </a:rPr>
              <a:t>Confidentiel · 15 / 15</a:t>
            </a:r>
          </a:p>
        </p:txBody>
      </p:sp>
      <p:graphicFrame>
        <p:nvGraphicFramePr>
          <p:cNvPr id="10" name="Table 9"/>
          <p:cNvGraphicFramePr>
            <a:graphicFrameLocks noGrp="1"/>
          </p:cNvGraphicFramePr>
          <p:nvPr/>
        </p:nvGraphicFramePr>
        <p:xfrm>
          <a:off x="640080" y="1325880"/>
          <a:ext cx="5394960" cy="2834640"/>
        </p:xfrm>
        <a:graphic>
          <a:graphicData uri="http://schemas.openxmlformats.org/drawingml/2006/table">
            <a:tbl>
              <a:tblPr firstRow="1" bandRow="1">
                <a:tableStyleId>{5C22544A-7EE6-4342-B048-85BDC9FD1C3A}</a:tableStyleId>
              </a:tblPr>
              <a:tblGrid>
                <a:gridCol w="1463040"/>
                <a:gridCol w="3931920"/>
              </a:tblGrid>
              <a:tr h="566928">
                <a:tc>
                  <a:txBody>
                    <a:bodyPr wrap="square"/>
                    <a:lstStyle/>
                    <a:p>
                      <a:r>
                        <a:rPr sz="1000" b="0">
                          <a:solidFill>
                            <a:srgbClr val="0F172A"/>
                          </a:solidFill>
                          <a:latin typeface="Calibri"/>
                        </a:rPr>
                        <a:t>Interlocuteur</a:t>
                      </a:r>
                    </a:p>
                  </a:txBody>
                  <a:tcPr marL="64008" marR="64008" marT="27432" marB="27432" anchor="ctr">
                    <a:solidFill>
                      <a:srgbClr val="F8FAFC"/>
                    </a:solidFill>
                  </a:tcPr>
                </a:tc>
                <a:tc>
                  <a:txBody>
                    <a:bodyPr wrap="square"/>
                    <a:lstStyle/>
                    <a:p>
                      <a:r>
                        <a:rPr sz="1000" b="0">
                          <a:solidFill>
                            <a:srgbClr val="0F172A"/>
                          </a:solidFill>
                          <a:latin typeface="Calibri"/>
                        </a:rPr>
                        <a:t>Terence Beni Raphaël QUENUM, gérant de BENAEL et futur gérant de Tam Logistics SARL</a:t>
                      </a:r>
                    </a:p>
                  </a:txBody>
                  <a:tcPr marL="64008" marR="64008" marT="27432" marB="27432" anchor="ctr">
                    <a:solidFill>
                      <a:srgbClr val="F8FAFC"/>
                    </a:solidFill>
                  </a:tcPr>
                </a:tc>
              </a:tr>
              <a:tr h="566928">
                <a:tc>
                  <a:txBody>
                    <a:bodyPr wrap="square"/>
                    <a:lstStyle/>
                    <a:p>
                      <a:r>
                        <a:rPr sz="1000" b="0">
                          <a:solidFill>
                            <a:srgbClr val="0F172A"/>
                          </a:solidFill>
                          <a:latin typeface="Calibri"/>
                        </a:rPr>
                        <a:t>Email</a:t>
                      </a:r>
                    </a:p>
                  </a:txBody>
                  <a:tcPr marL="64008" marR="64008" marT="27432" marB="27432" anchor="ctr">
                    <a:solidFill>
                      <a:srgbClr val="FFFFFF"/>
                    </a:solidFill>
                  </a:tcPr>
                </a:tc>
                <a:tc>
                  <a:txBody>
                    <a:bodyPr wrap="square"/>
                    <a:lstStyle/>
                    <a:p>
                      <a:r>
                        <a:rPr sz="1000" b="0">
                          <a:solidFill>
                            <a:srgbClr val="0F172A"/>
                          </a:solidFill>
                          <a:latin typeface="Calibri"/>
                        </a:rPr>
                        <a:t>terencebeniraphael@gmail.com</a:t>
                      </a:r>
                    </a:p>
                  </a:txBody>
                  <a:tcPr marL="64008" marR="64008" marT="27432" marB="27432" anchor="ctr">
                    <a:solidFill>
                      <a:srgbClr val="FFFFFF"/>
                    </a:solidFill>
                  </a:tcPr>
                </a:tc>
              </a:tr>
              <a:tr h="566928">
                <a:tc>
                  <a:txBody>
                    <a:bodyPr wrap="square"/>
                    <a:lstStyle/>
                    <a:p>
                      <a:r>
                        <a:rPr sz="1000" b="0">
                          <a:solidFill>
                            <a:srgbClr val="0F172A"/>
                          </a:solidFill>
                          <a:latin typeface="Calibri"/>
                        </a:rPr>
                        <a:t>Téléphone</a:t>
                      </a:r>
                    </a:p>
                  </a:txBody>
                  <a:tcPr marL="64008" marR="64008" marT="27432" marB="27432" anchor="ctr">
                    <a:solidFill>
                      <a:srgbClr val="F8FAFC"/>
                    </a:solidFill>
                  </a:tcPr>
                </a:tc>
                <a:tc>
                  <a:txBody>
                    <a:bodyPr wrap="square"/>
                    <a:lstStyle/>
                    <a:p>
                      <a:r>
                        <a:rPr sz="1000" b="0">
                          <a:solidFill>
                            <a:srgbClr val="0F172A"/>
                          </a:solidFill>
                          <a:latin typeface="Calibri"/>
                        </a:rPr>
                        <a:t>+229 [à compléter]</a:t>
                      </a:r>
                    </a:p>
                  </a:txBody>
                  <a:tcPr marL="64008" marR="64008" marT="27432" marB="27432" anchor="ctr">
                    <a:solidFill>
                      <a:srgbClr val="F8FAFC"/>
                    </a:solidFill>
                  </a:tcPr>
                </a:tc>
              </a:tr>
              <a:tr h="566928">
                <a:tc>
                  <a:txBody>
                    <a:bodyPr wrap="square"/>
                    <a:lstStyle/>
                    <a:p>
                      <a:r>
                        <a:rPr sz="1000" b="0">
                          <a:solidFill>
                            <a:srgbClr val="0F172A"/>
                          </a:solidFill>
                          <a:latin typeface="Calibri"/>
                        </a:rPr>
                        <a:t>Adresse</a:t>
                      </a:r>
                    </a:p>
                  </a:txBody>
                  <a:tcPr marL="64008" marR="64008" marT="27432" marB="27432" anchor="ctr">
                    <a:solidFill>
                      <a:srgbClr val="FFFFFF"/>
                    </a:solidFill>
                  </a:tcPr>
                </a:tc>
                <a:tc>
                  <a:txBody>
                    <a:bodyPr wrap="square"/>
                    <a:lstStyle/>
                    <a:p>
                      <a:r>
                        <a:rPr sz="1000" b="0">
                          <a:solidFill>
                            <a:srgbClr val="0F172A"/>
                          </a:solidFill>
                          <a:latin typeface="Calibri"/>
                        </a:rPr>
                        <a:t>BENAEL — Cotonou, 9e arrondissement, Mènontin</a:t>
                      </a:r>
                    </a:p>
                  </a:txBody>
                  <a:tcPr marL="64008" marR="64008" marT="27432" marB="27432" anchor="ctr">
                    <a:solidFill>
                      <a:srgbClr val="FFFFFF"/>
                    </a:solidFill>
                  </a:tcPr>
                </a:tc>
              </a:tr>
              <a:tr h="566928">
                <a:tc>
                  <a:txBody>
                    <a:bodyPr wrap="square"/>
                    <a:lstStyle/>
                    <a:p>
                      <a:r>
                        <a:rPr sz="1000" b="0">
                          <a:solidFill>
                            <a:srgbClr val="0F172A"/>
                          </a:solidFill>
                          <a:latin typeface="Calibri"/>
                        </a:rPr>
                        <a:t>Rendez-vous</a:t>
                      </a:r>
                    </a:p>
                  </a:txBody>
                  <a:tcPr marL="64008" marR="64008" marT="27432" marB="27432" anchor="ctr">
                    <a:solidFill>
                      <a:srgbClr val="F8FAFC"/>
                    </a:solidFill>
                  </a:tcPr>
                </a:tc>
                <a:tc>
                  <a:txBody>
                    <a:bodyPr wrap="square"/>
                    <a:lstStyle/>
                    <a:p>
                      <a:r>
                        <a:rPr sz="1000" b="0">
                          <a:solidFill>
                            <a:srgbClr val="0F172A"/>
                          </a:solidFill>
                          <a:latin typeface="Calibri"/>
                        </a:rPr>
                        <a:t>À votre convenance, Cotonou ou Porto-Novo</a:t>
                      </a:r>
                    </a:p>
                  </a:txBody>
                  <a:tcPr marL="64008" marR="64008" marT="27432" marB="27432" anchor="ctr">
                    <a:solidFill>
                      <a:srgbClr val="F8FAFC"/>
                    </a:solidFill>
                  </a:tcPr>
                </a:tc>
              </a:tr>
            </a:tbl>
          </a:graphicData>
        </a:graphic>
      </p:graphicFrame>
      <p:sp>
        <p:nvSpPr>
          <p:cNvPr id="11" name="TextBox 10"/>
          <p:cNvSpPr txBox="1"/>
          <p:nvPr/>
        </p:nvSpPr>
        <p:spPr>
          <a:xfrm>
            <a:off x="640080" y="4389120"/>
            <a:ext cx="5394960" cy="1554480"/>
          </a:xfrm>
          <a:prstGeom prst="rect">
            <a:avLst/>
          </a:prstGeom>
          <a:noFill/>
        </p:spPr>
        <p:txBody>
          <a:bodyPr wrap="square" lIns="36576" rIns="36576" tIns="18288" bIns="18288">
            <a:spAutoFit/>
          </a:bodyPr>
          <a:lstStyle/>
          <a:p>
            <a:pPr>
              <a:spcAft>
                <a:spcPts val="300"/>
              </a:spcAft>
            </a:pPr>
            <a:r>
              <a:rPr sz="1050" b="1">
                <a:solidFill>
                  <a:srgbClr val="64748B"/>
                </a:solidFill>
                <a:latin typeface="Calibri"/>
              </a:rPr>
              <a:t>Rapport attendu : </a:t>
            </a:r>
            <a:r>
              <a:rPr sz="1050" b="0">
                <a:solidFill>
                  <a:srgbClr val="64748B"/>
                </a:solidFill>
                <a:latin typeface="Calibri"/>
              </a:rPr>
              <a:t>nature de l'apport (par référence à l'annexe 1), méthodes retenues, valeur définitive arrêtée (qui peut différer de la valeur proposée), observations et réserves, signature et date.</a:t>
            </a:r>
          </a:p>
        </p:txBody>
      </p:sp>
      <p:graphicFrame>
        <p:nvGraphicFramePr>
          <p:cNvPr id="12" name="Table 11"/>
          <p:cNvGraphicFramePr>
            <a:graphicFrameLocks noGrp="1"/>
          </p:cNvGraphicFramePr>
          <p:nvPr/>
        </p:nvGraphicFramePr>
        <p:xfrm>
          <a:off x="6400800" y="1325880"/>
          <a:ext cx="5148071" cy="2743200"/>
        </p:xfrm>
        <a:graphic>
          <a:graphicData uri="http://schemas.openxmlformats.org/drawingml/2006/table">
            <a:tbl>
              <a:tblPr firstRow="1" bandRow="1">
                <a:tableStyleId>{5C22544A-7EE6-4342-B048-85BDC9FD1C3A}</a:tableStyleId>
              </a:tblPr>
              <a:tblGrid>
                <a:gridCol w="3125615"/>
                <a:gridCol w="2022456"/>
              </a:tblGrid>
              <a:tr h="457200">
                <a:tc>
                  <a:txBody>
                    <a:bodyPr wrap="square"/>
                    <a:lstStyle/>
                    <a:p>
                      <a:r>
                        <a:rPr sz="1000" b="1">
                          <a:solidFill>
                            <a:srgbClr val="FFFFFF"/>
                          </a:solidFill>
                          <a:latin typeface="Calibri"/>
                        </a:rPr>
                        <a:t>Étape</a:t>
                      </a:r>
                    </a:p>
                  </a:txBody>
                  <a:tcPr marL="64008" marR="64008" marT="27432" marB="27432" anchor="ctr">
                    <a:solidFill>
                      <a:srgbClr val="1E3A8A"/>
                    </a:solidFill>
                  </a:tcPr>
                </a:tc>
                <a:tc>
                  <a:txBody>
                    <a:bodyPr wrap="square"/>
                    <a:lstStyle/>
                    <a:p>
                      <a:pPr algn="r"/>
                      <a:r>
                        <a:rPr sz="1000" b="1">
                          <a:solidFill>
                            <a:srgbClr val="FFFFFF"/>
                          </a:solidFill>
                          <a:latin typeface="Calibri"/>
                        </a:rPr>
                        <a:t>Délai estimé</a:t>
                      </a:r>
                    </a:p>
                  </a:txBody>
                  <a:tcPr marL="64008" marR="64008" marT="27432" marB="27432" anchor="ctr">
                    <a:solidFill>
                      <a:srgbClr val="1E3A8A"/>
                    </a:solidFill>
                  </a:tcPr>
                </a:tc>
              </a:tr>
              <a:tr h="457200">
                <a:tc>
                  <a:txBody>
                    <a:bodyPr wrap="square"/>
                    <a:lstStyle/>
                    <a:p>
                      <a:r>
                        <a:rPr sz="1000" b="0">
                          <a:solidFill>
                            <a:srgbClr val="0F172A"/>
                          </a:solidFill>
                          <a:latin typeface="Calibri"/>
                        </a:rPr>
                        <a:t>Remise du dossier et des annexes</a:t>
                      </a:r>
                    </a:p>
                  </a:txBody>
                  <a:tcPr marL="64008" marR="64008" marT="27432" marB="27432" anchor="ctr">
                    <a:solidFill>
                      <a:srgbClr val="FFFFFF"/>
                    </a:solidFill>
                  </a:tcPr>
                </a:tc>
                <a:tc>
                  <a:txBody>
                    <a:bodyPr wrap="square"/>
                    <a:lstStyle/>
                    <a:p>
                      <a:pPr algn="r"/>
                      <a:r>
                        <a:rPr sz="1000" b="0">
                          <a:solidFill>
                            <a:srgbClr val="0F172A"/>
                          </a:solidFill>
                          <a:latin typeface="Calibri"/>
                        </a:rPr>
                        <a:t>Immédiate</a:t>
                      </a:r>
                    </a:p>
                  </a:txBody>
                  <a:tcPr marL="64008" marR="64008" marT="27432" marB="27432" anchor="ctr">
                    <a:solidFill>
                      <a:srgbClr val="FFFFFF"/>
                    </a:solidFill>
                  </a:tcPr>
                </a:tc>
              </a:tr>
              <a:tr h="457200">
                <a:tc>
                  <a:txBody>
                    <a:bodyPr wrap="square"/>
                    <a:lstStyle/>
                    <a:p>
                      <a:r>
                        <a:rPr sz="1000" b="0">
                          <a:solidFill>
                            <a:srgbClr val="0F172A"/>
                          </a:solidFill>
                          <a:latin typeface="Calibri"/>
                        </a:rPr>
                        <a:t>Étude par le Commissaire</a:t>
                      </a:r>
                    </a:p>
                  </a:txBody>
                  <a:tcPr marL="64008" marR="64008" marT="27432" marB="27432" anchor="ctr">
                    <a:solidFill>
                      <a:srgbClr val="F8FAFC"/>
                    </a:solidFill>
                  </a:tcPr>
                </a:tc>
                <a:tc>
                  <a:txBody>
                    <a:bodyPr wrap="square"/>
                    <a:lstStyle/>
                    <a:p>
                      <a:pPr algn="r"/>
                      <a:r>
                        <a:rPr sz="1000" b="0">
                          <a:solidFill>
                            <a:srgbClr val="0F172A"/>
                          </a:solidFill>
                          <a:latin typeface="Calibri"/>
                        </a:rPr>
                        <a:t>2 à 4 semaines</a:t>
                      </a:r>
                    </a:p>
                  </a:txBody>
                  <a:tcPr marL="64008" marR="64008" marT="27432" marB="27432" anchor="ctr">
                    <a:solidFill>
                      <a:srgbClr val="F8FAFC"/>
                    </a:solidFill>
                  </a:tcPr>
                </a:tc>
              </a:tr>
              <a:tr h="457200">
                <a:tc>
                  <a:txBody>
                    <a:bodyPr wrap="square"/>
                    <a:lstStyle/>
                    <a:p>
                      <a:r>
                        <a:rPr sz="1000" b="0">
                          <a:solidFill>
                            <a:srgbClr val="0F172A"/>
                          </a:solidFill>
                          <a:latin typeface="Calibri"/>
                        </a:rPr>
                        <a:t>Compléments d'information</a:t>
                      </a:r>
                    </a:p>
                  </a:txBody>
                  <a:tcPr marL="64008" marR="64008" marT="27432" marB="27432" anchor="ctr">
                    <a:solidFill>
                      <a:srgbClr val="FFFFFF"/>
                    </a:solidFill>
                  </a:tcPr>
                </a:tc>
                <a:tc>
                  <a:txBody>
                    <a:bodyPr wrap="square"/>
                    <a:lstStyle/>
                    <a:p>
                      <a:pPr algn="r"/>
                      <a:r>
                        <a:rPr sz="1000" b="0">
                          <a:solidFill>
                            <a:srgbClr val="0F172A"/>
                          </a:solidFill>
                          <a:latin typeface="Calibri"/>
                        </a:rPr>
                        <a:t>Sous 48 h</a:t>
                      </a:r>
                    </a:p>
                  </a:txBody>
                  <a:tcPr marL="64008" marR="64008" marT="27432" marB="27432" anchor="ctr">
                    <a:solidFill>
                      <a:srgbClr val="FFFFFF"/>
                    </a:solidFill>
                  </a:tcPr>
                </a:tc>
              </a:tr>
              <a:tr h="457200">
                <a:tc>
                  <a:txBody>
                    <a:bodyPr wrap="square"/>
                    <a:lstStyle/>
                    <a:p>
                      <a:r>
                        <a:rPr sz="1000" b="0">
                          <a:solidFill>
                            <a:srgbClr val="0F172A"/>
                          </a:solidFill>
                          <a:latin typeface="Calibri"/>
                        </a:rPr>
                        <a:t>Rapport officiel</a:t>
                      </a:r>
                    </a:p>
                  </a:txBody>
                  <a:tcPr marL="64008" marR="64008" marT="27432" marB="27432" anchor="ctr">
                    <a:solidFill>
                      <a:srgbClr val="F8FAFC"/>
                    </a:solidFill>
                  </a:tcPr>
                </a:tc>
                <a:tc>
                  <a:txBody>
                    <a:bodyPr wrap="square"/>
                    <a:lstStyle/>
                    <a:p>
                      <a:pPr algn="r"/>
                      <a:r>
                        <a:rPr sz="1000" b="0">
                          <a:solidFill>
                            <a:srgbClr val="0F172A"/>
                          </a:solidFill>
                          <a:latin typeface="Calibri"/>
                        </a:rPr>
                        <a:t>4 à 6 semaines</a:t>
                      </a:r>
                    </a:p>
                  </a:txBody>
                  <a:tcPr marL="64008" marR="64008" marT="27432" marB="27432" anchor="ctr">
                    <a:solidFill>
                      <a:srgbClr val="F8FAFC"/>
                    </a:solidFill>
                  </a:tcPr>
                </a:tc>
              </a:tr>
              <a:tr h="457200">
                <a:tc>
                  <a:txBody>
                    <a:bodyPr wrap="square"/>
                    <a:lstStyle/>
                    <a:p>
                      <a:r>
                        <a:rPr sz="1000" b="0">
                          <a:solidFill>
                            <a:srgbClr val="0F172A"/>
                          </a:solidFill>
                          <a:latin typeface="Calibri"/>
                        </a:rPr>
                        <a:t>Assemblée constitutive de Tam Logistics SARL</a:t>
                      </a:r>
                    </a:p>
                  </a:txBody>
                  <a:tcPr marL="64008" marR="64008" marT="27432" marB="27432" anchor="ctr">
                    <a:solidFill>
                      <a:srgbClr val="FFFFFF"/>
                    </a:solidFill>
                  </a:tcPr>
                </a:tc>
                <a:tc>
                  <a:txBody>
                    <a:bodyPr wrap="square"/>
                    <a:lstStyle/>
                    <a:p>
                      <a:pPr algn="r"/>
                      <a:r>
                        <a:rPr sz="1000" b="0">
                          <a:solidFill>
                            <a:srgbClr val="0F172A"/>
                          </a:solidFill>
                          <a:latin typeface="Calibri"/>
                        </a:rPr>
                        <a:t>Suite immédiate</a:t>
                      </a:r>
                    </a:p>
                  </a:txBody>
                  <a:tcPr marL="64008" marR="64008" marT="27432" marB="27432" anchor="ctr">
                    <a:solidFill>
                      <a:srgbClr val="FFFFFF"/>
                    </a:solidFill>
                  </a:tcPr>
                </a:tc>
              </a:tr>
            </a:tbl>
          </a:graphicData>
        </a:graphic>
      </p:graphicFrame>
      <p:sp>
        <p:nvSpPr>
          <p:cNvPr id="13" name="Rounded Rectangle 12"/>
          <p:cNvSpPr/>
          <p:nvPr/>
        </p:nvSpPr>
        <p:spPr>
          <a:xfrm>
            <a:off x="6400800" y="4343400"/>
            <a:ext cx="5148072" cy="141732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416552"/>
            <a:ext cx="4873752" cy="274320"/>
          </a:xfrm>
          <a:prstGeom prst="rect">
            <a:avLst/>
          </a:prstGeom>
          <a:noFill/>
        </p:spPr>
        <p:txBody>
          <a:bodyPr wrap="square" lIns="36576" rIns="36576" tIns="18288" bIns="18288">
            <a:spAutoFit/>
          </a:bodyPr>
          <a:lstStyle/>
          <a:p>
            <a:pPr>
              <a:spcAft>
                <a:spcPts val="300"/>
              </a:spcAft>
            </a:pPr>
            <a:r>
              <a:rPr sz="1100" b="1">
                <a:solidFill>
                  <a:srgbClr val="1E3A8A"/>
                </a:solidFill>
                <a:latin typeface="Calibri"/>
              </a:rPr>
              <a:t>Rappel important</a:t>
            </a:r>
          </a:p>
        </p:txBody>
      </p:sp>
      <p:sp>
        <p:nvSpPr>
          <p:cNvPr id="15" name="TextBox 14"/>
          <p:cNvSpPr txBox="1"/>
          <p:nvPr/>
        </p:nvSpPr>
        <p:spPr>
          <a:xfrm>
            <a:off x="6537960" y="4727448"/>
            <a:ext cx="4873752" cy="960120"/>
          </a:xfrm>
          <a:prstGeom prst="rect">
            <a:avLst/>
          </a:prstGeom>
          <a:noFill/>
        </p:spPr>
        <p:txBody>
          <a:bodyPr wrap="square" lIns="36576" rIns="36576" tIns="18288" bIns="18288">
            <a:spAutoFit/>
          </a:bodyPr>
          <a:lstStyle/>
          <a:p>
            <a:pPr>
              <a:spcAft>
                <a:spcPts val="300"/>
              </a:spcAft>
            </a:pPr>
            <a:r>
              <a:rPr sz="1000" b="0">
                <a:solidFill>
                  <a:srgbClr val="0F172A"/>
                </a:solidFill>
                <a:latin typeface="Calibri"/>
              </a:rPr>
              <a:t>La valeur définitive retenue par le Commissaire s'impose aux associés dans les statuts. Toute retenue d'une valeur différente entraînerait leur responsabilité solidaire pendant cinq ans (art. 312 AUSCGIE).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